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pagi/siang. Hari ini saya akan mempresentasikan proyek Lapis AI, sebuah sistem pemeliharaan prediktif (predictive maintenance) untuk industri manufaktur, yang kami kembangkan menggunakan metodologi standar industri, yaitu CRISP-DM.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Presentasi ini akan mengikuti enam fase metodologi CRISP-DM. Proyek ini adalah proyek end-to-end, artinya kita membangun sistem tidak hanya sampai tahap evaluasi model, melainkan sampai tahap deployment dalam bentuk API siap pakai.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Sistem Lapis AI terdiri dari 4 modul utama. Data telemetry masuk melalui ingestion, diproses oleh ML Engine, divisualisasikan oleh Frontend, dan dibantu oleh RAG assistant. Pada presentasi Data Mining kali ini, saya akan berfokus sepenuhnya pada modul pertama, yaitu Machine Learning Predictive Engine yang saya kembangkan sebagai Role 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Mengapa proyek ini penting? Karena downtime industri itu sangat mahal. Pendekatan lama seperti preventive maintenance sering mengganti part yang masih sehat. Solusi Lapis AI menggunakan sensor IoT untuk memantau kesehatan mesin secara real-time dan memprediksi kerusakan sebelum benar-benar terjadi, sehingga meminimalkan kerugian downtime.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 dua tujuan utama: mendiagnosis status saat ini (sehat, waspada, kritis), dan memprediksi sisa umur mesin. Kriteria sukses kami tetapkan di awal, dan spoiler sedikit, hasil aktual yang kami capai jauh melampaui target dasar tersebut.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Masalah bisnis ini diterjemahkan menjadi dua problem machine learning: klasifikasi dan regresi. Tantangan terbesar yang harus kami pecahkan adalah ketimpangan data yang sangat ekstrem, di mana data kerusakan (failure) hanya berjumlah 0.056% dari total populasi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Kita menggunakan dua sumber data. Pertama, data sensor yang dicatat setiap jam dari 20 mesin berbeda. Kedua, log pemeliharaan yang mencatat tindakan perbaikan teknisi. Total ada 100,000 baris data sensor yang menjadi input utama algoritma kita.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secara umum sangat bersih tanpa missing value pada sensor. Integritas waktu sangat rapi. Namun, kita mengonfirmasi adanya extreme class imbalance yang akan menjadi tantangan utama kita di tahap data preparation nanti.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Kami melakukan 'autopsi' data forensik pada momen-menjelang kerusakan. Menariknya, kami menemukan bahwa pola anomali mulai terlihat 48 jam sebelum mesin mati, dan semakin parah pada 24 jam terakhir. Temuan empiris ini akan menjadi dasar kita melabeli data nanti.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Uji Cohen's d membuktikan bahwa 6 dari 8 sensor memiliki daya beda yang sangat besar (nilai d di atas 2.5). Artinya sinyal kerusakan benar-benar terekam kuat pada sensor vibrasi, tekanan, RPM, dan suhu.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adalah kontribusi terbesar di Fase Data Preparation. Ketimbang menggunakan target 1/0, kami merekayasa ulang label menjadi 3 kelas. Aturan 48 jam dan 24 jam ini murni diambil dari hasil penemuan EDA sebelumnya, bukan sekadar tebakan.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Algoritma sulit membaca raw data satu per satu. Jadi kami buatkan fitur seperti rata-rata bergerak (rolling mean) atau nilai dari 24 jam yang lalu (lag feature) agar model bisa memahami tren tren data sepanjang waktu.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 adalah variabel target untuk regresi sisa umur mesin. Variabel ini kami rekayasa dari timeline historis. Namun, kami membatasi prediksinya HANYA jika mesin berstatus WARNING atau CRITICAL, karena menebak sisa umur mesin yang masih sehat 100% adalah sangat tidak akurat.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Kami tidak langsung melakukan SMOTE pada data, karena akan menyebabkan Data Leakage atau kebocoran data masa depan ke masa lalu. Kami menggunakan sampling berbasis blok waktu (SSBS), lalu baru melakukan SMOTE, dan itupun HANYA untuk data training. Data test tetap natural.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Teknik pemisahan data ini sangat penting. Kami memisahkan berdasarkan unit mesin, bukan potong waktu secara global. Model dilatih di 14 mesin, dan diuji pada 6 mesin yang benar-benar belum pernah dia kenali sebelumnya untuk menguji generalisasinya secara realistik.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Untuk modeling, kami mencoba dua jalur. Track A untuk klasifikasi kondisi, kami uji 3 model berbasis pohon keputusan. Track B untuk memprediksi sisa umur dalam hari, kami menguji regressor biasa melawan arsitektur deep learning untuk deret waktu, yaitu LSTM dan GRU.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XGBoost adalah pemenang untuk tugas klasifikasi ini. Rahasianya adalah kami melakukan 'Threshold Engineering' dengan menaikkan batas probabilitas Warning menjadi 60% agar operator pabrik tidak pusing dengan alarm peringatan palsu.</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Untuk prediksi hari (RUL), algoritma Deep Learning LSTM mengalahkan XGBoost. LSTM mampu memanfaatkan sequence data sensor masa lalu dan mencetak rata-rata error absolut (MAE) di bawah 1 hari (tepatnya sekitar 19 jam saja)!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adalah arsitektur LSTM kita. Kami merancangnya agar tidak terlalu dalam (hanya 47 ribu parameter) dan menggunakan dropout serta L2 regularization agar model tidak overfit dan dapat berlatih secara mulus. Model melihat riwayat 24 jam terakhir untuk menebak sisa waktu.</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Hasil evaluasi XGBoost sangat luar biasa. Yang paling penting bagi bisnis, tingkat Fatal Error-nya adalah 0. Artinya, tidak pernah ada kejadian di mana mesin yang sebenarnya sedang 'KRITIS' dideteksi sebagai 'SEHAT'.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LSTM V2 menunjukkan hasil yang mencengangkan, di mana saat mesin baru memasuki zona WARNING, prediksi sisa umurnya memiliki error rata-rata hanya 34 menit dari target aslinya! Lebih dari 98% prediksi RUL kita meleset kurang dari 1 hari.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Mengekstrak arti dari kotak hitam (black-box) model, kita temukan bahwa fitur buatan yang melihat mundur sejauh 48 jam menjadi faktor penentu utama. Hal ini memvalidasi secara meyakinkan analisis visual EDA kita di awal yang juga mengunci window 48 jam.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 proyek enterprise, performa tinggi seringkali disebabkan oleh kebocoran data. Kami memastikan 100% pipeline kami anti-leakage. Model murni memprediksi tanpa pernah 'mengintip' jawaban masa depan.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yang dilatih kemudian dibungkus menggunakan FastAPI menjadi REST API. Model dipertahankan di RAM (memory) untuk menghindari waktu tunggu. ML service inilah yang akan dikonsumsi oleh tim Backend dan ditampilkan di layar Frontend.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Selain model cerdas, kami juga mengekstrak ambang batas statistik (threshold) P90 dan P95 untuk setiap sensor. Angka ini diberikan kepada tim Frontend untuk mengatur pergerakan jarum Gauge Chart agar menyala kuning dan merah dengan akurasi tinggi.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adalah output akhir dari modul Data Mining ini. Keseluruhan artefak diserahkan sesuai API Contract dan diintegrasikan sempurna menjadi Lapis AI Dashboard yang responsif dan canggih.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Kesimpulannya, metodologi CRISP-DM terbukti sangat tangguh mengatur proyek ini. Kontribusi terpenting kami justru ada di rekayasa label dan anti-kebocoran data. Model yang dihasilkan mampu memprediksi waktu mati mesin secara sangat akurat dan terhindar dari bias data.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Terima kasih atas perhatiannya. Kami mengapresiasi kerjasama solid antar Role dalam merakit Lapis AI secara keseluruhan. Sesi sekarang saya kembalikan untuk tanya jawab.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COVER</a:t>
            </a:r>
          </a:p>
        </p:txBody>
      </p:sp>
      <p:sp>
        <p:nvSpPr>
          <p:cNvPr id="3" name="Content Placeholder 2"/>
          <p:cNvSpPr>
            <a:spLocks noGrp="1"/>
          </p:cNvSpPr>
          <p:nvPr>
            <p:ph idx="1"/>
          </p:nvPr>
        </p:nvSpPr>
        <p:spPr/>
        <p:txBody>
          <a:bodyPr/>
          <a:lstStyle/>
          <a:p/>
          <a:p>
            <a:pPr>
              <a:defRPr sz="1600">
                <a:solidFill>
                  <a:srgbClr val="265528"/>
                </a:solidFill>
              </a:defRPr>
            </a:pPr>
            <a:r>
              <a:t>Judul:*Lapis AI: Sistem Predictive Maintenance Berbasis Machine Learning &amp; Deep Learning</a:t>
            </a:r>
          </a:p>
          <a:p>
            <a:pPr>
              <a:defRPr sz="1600">
                <a:solidFill>
                  <a:srgbClr val="265528"/>
                </a:solidFill>
              </a:defRPr>
            </a:pPr>
            <a:r>
              <a:t>Sub-judul:*Pendekatan CRISP-DM pada Data Sensor IoT Industri</a:t>
            </a:r>
          </a:p>
          <a:p>
            <a:pPr>
              <a:defRPr sz="1600">
                <a:solidFill>
                  <a:srgbClr val="265528"/>
                </a:solidFill>
              </a:defRPr>
            </a:pPr>
            <a:r>
              <a:t>Informasi Tambahan:*[Nama Anda], [NIM Anda], [Mata Kuliah], [Semester], [Tahun]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AGENDA</a:t>
            </a:r>
          </a:p>
        </p:txBody>
      </p:sp>
      <p:sp>
        <p:nvSpPr>
          <p:cNvPr id="3" name="Content Placeholder 2"/>
          <p:cNvSpPr>
            <a:spLocks noGrp="1"/>
          </p:cNvSpPr>
          <p:nvPr>
            <p:ph idx="1"/>
          </p:nvPr>
        </p:nvSpPr>
        <p:spPr/>
        <p:txBody>
          <a:bodyPr/>
          <a:lstStyle/>
          <a:p/>
          <a:p>
            <a:pPr>
              <a:defRPr sz="1600">
                <a:solidFill>
                  <a:srgbClr val="265528"/>
                </a:solidFill>
              </a:defRPr>
            </a:pPr>
            <a:r>
              <a:t>1. Business Understanding</a:t>
            </a:r>
          </a:p>
          <a:p>
            <a:pPr>
              <a:defRPr sz="1600">
                <a:solidFill>
                  <a:srgbClr val="265528"/>
                </a:solidFill>
              </a:defRPr>
            </a:pPr>
            <a:r>
              <a:t>2. Data Understanding</a:t>
            </a:r>
          </a:p>
          <a:p>
            <a:pPr>
              <a:defRPr sz="1600">
                <a:solidFill>
                  <a:srgbClr val="265528"/>
                </a:solidFill>
              </a:defRPr>
            </a:pPr>
            <a:r>
              <a:t>3. Data Preparation*(Fokus utama eksplorasi data)</a:t>
            </a:r>
          </a:p>
          <a:p>
            <a:pPr>
              <a:defRPr sz="1600">
                <a:solidFill>
                  <a:srgbClr val="265528"/>
                </a:solidFill>
              </a:defRPr>
            </a:pPr>
            <a:r>
              <a:t>4. Modeling</a:t>
            </a:r>
          </a:p>
          <a:p>
            <a:pPr>
              <a:defRPr sz="1600">
                <a:solidFill>
                  <a:srgbClr val="265528"/>
                </a:solidFill>
              </a:defRPr>
            </a:pPr>
            <a:r>
              <a:t>5. Evaluation</a:t>
            </a:r>
          </a:p>
          <a:p>
            <a:pPr>
              <a:defRPr sz="1600">
                <a:solidFill>
                  <a:srgbClr val="265528"/>
                </a:solidFill>
              </a:defRPr>
            </a:pPr>
            <a:r>
              <a:t>6. Deployment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GAMBARAN SISTEM LAPIS AI</a:t>
            </a:r>
          </a:p>
        </p:txBody>
      </p:sp>
      <p:sp>
        <p:nvSpPr>
          <p:cNvPr id="3" name="Content Placeholder 2"/>
          <p:cNvSpPr>
            <a:spLocks noGrp="1"/>
          </p:cNvSpPr>
          <p:nvPr>
            <p:ph idx="1"/>
          </p:nvPr>
        </p:nvSpPr>
        <p:spPr/>
        <p:txBody>
          <a:bodyPr/>
          <a:lstStyle/>
          <a:p/>
          <a:p>
            <a:pPr>
              <a:defRPr sz="1600">
                <a:solidFill>
                  <a:srgbClr val="265528"/>
                </a:solidFill>
              </a:defRPr>
            </a:pPr>
            <a:r>
              <a:t>Arsitektur 4 modul utama dari Blueprint V3.0:</a:t>
            </a:r>
          </a:p>
          <a:p>
            <a:pPr>
              <a:defRPr sz="1600">
                <a:solidFill>
                  <a:srgbClr val="265528"/>
                </a:solidFill>
              </a:defRPr>
            </a:pPr>
            <a:r>
              <a:t>Catatan:*Presentasi ini fokus pada Modul ML Predictive Engine.</a:t>
            </a:r>
          </a:p>
        </p:txBody>
      </p:sp>
      <p:sp>
        <p:nvSpPr>
          <p:cNvPr id="4" name="Rectangle 3"/>
          <p:cNvSpPr/>
          <p:nvPr/>
        </p:nvSpPr>
        <p:spPr>
          <a:xfrm>
            <a:off x="914400" y="4114800"/>
            <a:ext cx="7315200" cy="2286000"/>
          </a:xfrm>
          <a:prstGeom prst="rect">
            <a:avLst/>
          </a:prstGeom>
          <a:noFill/>
          <a:ln w="25400">
            <a:solidFill>
              <a:srgbClr val="265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65528"/>
                </a:solidFill>
              </a:rPr>
              <a:t>--- FRAME VISUAL KOSONG ---</a:t>
            </a:r>
          </a:p>
          <a:p>
            <a:pPr algn="ctr"/>
            <a:r>
              <a:rPr sz="1400" b="1">
                <a:solidFill>
                  <a:srgbClr val="265528"/>
                </a:solidFill>
              </a:rPr>
              <a:t>(Diagram alur bisnis singkat (user journey: Sensor -&gt; Backend -&gt; ML Service -&gt; Frontend).)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LATAR BELAKANG &amp; PROBLEM STATEMENT</a:t>
            </a:r>
          </a:p>
        </p:txBody>
      </p:sp>
      <p:sp>
        <p:nvSpPr>
          <p:cNvPr id="3" name="Content Placeholder 2"/>
          <p:cNvSpPr>
            <a:spLocks noGrp="1"/>
          </p:cNvSpPr>
          <p:nvPr>
            <p:ph idx="1"/>
          </p:nvPr>
        </p:nvSpPr>
        <p:spPr/>
        <p:txBody>
          <a:bodyPr/>
          <a:lstStyle/>
          <a:p/>
          <a:p>
            <a:pPr>
              <a:defRPr sz="1600">
                <a:solidFill>
                  <a:srgbClr val="265528"/>
                </a:solidFill>
              </a:defRPr>
            </a:pPr>
            <a:r>
              <a:t>Problem:*Downtime peralatan yang tidak terduga menyebabkan kerugian besar di industri manufaktur.</a:t>
            </a:r>
          </a:p>
          <a:p>
            <a:pPr>
              <a:defRPr sz="1600">
                <a:solidFill>
                  <a:srgbClr val="265528"/>
                </a:solidFill>
              </a:defRPr>
            </a:pPr>
            <a:r>
              <a:t>Pendekatan Tradisional:*Pemeliharaan reaktif (tunggu rusak) atau preventif (berbasis jadwal) sangat tidak efisien dan boros biaya.</a:t>
            </a:r>
          </a:p>
          <a:p>
            <a:pPr>
              <a:defRPr sz="1600">
                <a:solidFill>
                  <a:srgbClr val="265528"/>
                </a:solidFill>
              </a:defRPr>
            </a:pPr>
            <a:r>
              <a:t>Solusi:*Predictive Maintenance berbasis IoT dan Machine Learning yang mendeteksi pola anomali sebelum kerusakan terjadi.</a:t>
            </a:r>
          </a:p>
        </p:txBody>
      </p:sp>
      <p:sp>
        <p:nvSpPr>
          <p:cNvPr id="4" name="Rectangle 3"/>
          <p:cNvSpPr/>
          <p:nvPr/>
        </p:nvSpPr>
        <p:spPr>
          <a:xfrm>
            <a:off x="914400" y="4114800"/>
            <a:ext cx="7315200" cy="2286000"/>
          </a:xfrm>
          <a:prstGeom prst="rect">
            <a:avLst/>
          </a:prstGeom>
          <a:noFill/>
          <a:ln w="25400">
            <a:solidFill>
              <a:srgbClr val="265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65528"/>
                </a:solidFill>
              </a:rPr>
              <a:t>--- FRAME VISUAL KOSONG ---</a:t>
            </a:r>
          </a:p>
          <a:p>
            <a:pPr algn="ctr"/>
            <a:r>
              <a:rPr sz="1400" b="1">
                <a:solidFill>
                  <a:srgbClr val="265528"/>
                </a:solidFill>
              </a:rPr>
              <a:t>(Diagram perbandingan: Reactive vs Preventive vs Predictive.)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TUJUAN PENELITIAN &amp; SUCCESS CRITERIA</a:t>
            </a:r>
          </a:p>
        </p:txBody>
      </p:sp>
      <p:sp>
        <p:nvSpPr>
          <p:cNvPr id="3" name="Content Placeholder 2"/>
          <p:cNvSpPr>
            <a:spLocks noGrp="1"/>
          </p:cNvSpPr>
          <p:nvPr>
            <p:ph idx="1"/>
          </p:nvPr>
        </p:nvSpPr>
        <p:spPr/>
        <p:txBody>
          <a:bodyPr/>
          <a:lstStyle/>
          <a:p/>
          <a:p>
            <a:pPr>
              <a:defRPr sz="1600">
                <a:solidFill>
                  <a:srgbClr val="265528"/>
                </a:solidFill>
              </a:defRPr>
            </a:pPr>
            <a:r>
              <a:t>Tujuan 1:*Klasifikasi status kesehatan mesin (HEALTHY / WARNING / CRITICAL).</a:t>
            </a:r>
          </a:p>
          <a:p>
            <a:pPr>
              <a:defRPr sz="1600">
                <a:solidFill>
                  <a:srgbClr val="265528"/>
                </a:solidFill>
              </a:defRPr>
            </a:pPr>
            <a:r>
              <a:t>Tujuan 2:*Prediksi Remaining Useful Life (RUL) dalam satuan HARI.</a:t>
            </a:r>
          </a:p>
          <a:p>
            <a:pPr>
              <a:defRPr sz="1600">
                <a:solidFill>
                  <a:srgbClr val="265528"/>
                </a:solidFill>
              </a:defRPr>
            </a:pPr>
            <a:r>
              <a:t>Success Criteria:</a:t>
            </a:r>
          </a:p>
          <a:p>
            <a:pPr>
              <a:defRPr sz="1600">
                <a:solidFill>
                  <a:srgbClr val="265528"/>
                </a:solidFill>
              </a:defRPr>
            </a:pPr>
            <a:r>
              <a:t>Model 1 (Classifier): F1-Macro ≥ 0.90 pada mesin yang belum pernah dilihat (unseen).</a:t>
            </a:r>
          </a:p>
          <a:p>
            <a:pPr>
              <a:defRPr sz="1600">
                <a:solidFill>
                  <a:srgbClr val="265528"/>
                </a:solidFill>
              </a:defRPr>
            </a:pPr>
            <a:r>
              <a:t>Model 2 (RUL): MAE ≤ 3 hari, persentase Error ≤ 1 hari harus ≥ 90%.</a:t>
            </a:r>
          </a:p>
          <a:p>
            <a:pPr>
              <a:defRPr sz="1600">
                <a:solidFill>
                  <a:srgbClr val="265528"/>
                </a:solidFill>
              </a:defRPr>
            </a:pPr>
            <a:r>
              <a:t>Deliverables Final:*File `.pkl`, `.keras`, dan API Contract JSON.</a:t>
            </a:r>
          </a:p>
        </p:txBody>
      </p:sp>
      <p:sp>
        <p:nvSpPr>
          <p:cNvPr id="4" name="Rectangle 3"/>
          <p:cNvSpPr/>
          <p:nvPr/>
        </p:nvSpPr>
        <p:spPr>
          <a:xfrm>
            <a:off x="914400" y="4114800"/>
            <a:ext cx="7315200" cy="2286000"/>
          </a:xfrm>
          <a:prstGeom prst="rect">
            <a:avLst/>
          </a:prstGeom>
          <a:noFill/>
          <a:ln w="25400">
            <a:solidFill>
              <a:srgbClr val="265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65528"/>
                </a:solidFill>
              </a:rPr>
              <a:t>--- FRAME VISUAL KOSONG ---</a:t>
            </a:r>
          </a:p>
          <a:p>
            <a:pPr algn="ctr"/>
            <a:r>
              <a:rPr sz="1400" b="1">
                <a:solidFill>
                  <a:srgbClr val="265528"/>
                </a:solidFill>
              </a:rPr>
              <a:t>(Tabel success criteria vs hasil aktual (Spoiler: semua target terlampaui).)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DEFINISI PROBLEM ML</a:t>
            </a:r>
          </a:p>
        </p:txBody>
      </p:sp>
      <p:sp>
        <p:nvSpPr>
          <p:cNvPr id="3" name="Content Placeholder 2"/>
          <p:cNvSpPr>
            <a:spLocks noGrp="1"/>
          </p:cNvSpPr>
          <p:nvPr>
            <p:ph idx="1"/>
          </p:nvPr>
        </p:nvSpPr>
        <p:spPr/>
        <p:txBody>
          <a:bodyPr/>
          <a:lstStyle/>
          <a:p/>
          <a:p>
            <a:pPr>
              <a:defRPr sz="1600">
                <a:solidFill>
                  <a:srgbClr val="265528"/>
                </a:solidFill>
              </a:defRPr>
            </a:pPr>
            <a:r>
              <a:t>Model 1: Multi-class Classification</a:t>
            </a:r>
          </a:p>
          <a:p>
            <a:pPr>
              <a:defRPr sz="1600">
                <a:solidFill>
                  <a:srgbClr val="265528"/>
                </a:solidFill>
              </a:defRPr>
            </a:pPr>
            <a:r>
              <a:t>Input:*Data sensor time-series</a:t>
            </a:r>
          </a:p>
          <a:p>
            <a:pPr>
              <a:defRPr sz="1600">
                <a:solidFill>
                  <a:srgbClr val="265528"/>
                </a:solidFill>
              </a:defRPr>
            </a:pPr>
            <a:r>
              <a:t>Output:*HEALTHY (0) / WARNING (1) / CRITICAL (2)</a:t>
            </a:r>
          </a:p>
          <a:p>
            <a:pPr>
              <a:defRPr sz="1600">
                <a:solidFill>
                  <a:srgbClr val="265528"/>
                </a:solidFill>
              </a:defRPr>
            </a:pPr>
            <a:r>
              <a:t>Model 2: Regression*(Hanya aktif untuk WARNING+CRITICAL)</a:t>
            </a:r>
          </a:p>
          <a:p>
            <a:pPr>
              <a:defRPr sz="1600">
                <a:solidFill>
                  <a:srgbClr val="265528"/>
                </a:solidFill>
              </a:defRPr>
            </a:pPr>
            <a:r>
              <a:t>Input:*Urutan sensor (sequence)</a:t>
            </a:r>
          </a:p>
          <a:p>
            <a:pPr>
              <a:defRPr sz="1600">
                <a:solidFill>
                  <a:srgbClr val="265528"/>
                </a:solidFill>
              </a:defRPr>
            </a:pPr>
            <a:r>
              <a:t>Output:*`rul_days` (float)</a:t>
            </a:r>
          </a:p>
          <a:p>
            <a:pPr>
              <a:defRPr sz="1600">
                <a:solidFill>
                  <a:srgbClr val="265528"/>
                </a:solidFill>
              </a:defRPr>
            </a:pPr>
            <a:r>
              <a:t>Data:*20 mesin × 5,000 jam = 100,000 baris observasi.</a:t>
            </a:r>
          </a:p>
          <a:p>
            <a:pPr>
              <a:defRPr sz="1600">
                <a:solidFill>
                  <a:srgbClr val="265528"/>
                </a:solidFill>
              </a:defRPr>
            </a:pPr>
            <a:r>
              <a:t>Tantangan Utama:*Extreme imbalance (kasus kerusakan hanya 0.056%).</a:t>
            </a:r>
          </a:p>
        </p:txBody>
      </p:sp>
      <p:sp>
        <p:nvSpPr>
          <p:cNvPr id="4" name="Rectangle 3"/>
          <p:cNvSpPr/>
          <p:nvPr/>
        </p:nvSpPr>
        <p:spPr>
          <a:xfrm>
            <a:off x="914400" y="4114800"/>
            <a:ext cx="7315200" cy="2286000"/>
          </a:xfrm>
          <a:prstGeom prst="rect">
            <a:avLst/>
          </a:prstGeom>
          <a:noFill/>
          <a:ln w="25400">
            <a:solidFill>
              <a:srgbClr val="265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65528"/>
                </a:solidFill>
              </a:rPr>
              <a:t>--- FRAME VISUAL KOSONG ---</a:t>
            </a:r>
          </a:p>
          <a:p>
            <a:pPr algn="ctr"/>
            <a:r>
              <a:rPr sz="1400" b="1">
                <a:solidFill>
                  <a:srgbClr val="265528"/>
                </a:solidFill>
              </a:rPr>
              <a:t>(Pie chart distribusi label awal (failure 0.056% vs normal 99.944%).)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SUMBER DATA</a:t>
            </a:r>
          </a:p>
        </p:txBody>
      </p:sp>
      <p:sp>
        <p:nvSpPr>
          <p:cNvPr id="3" name="Content Placeholder 2"/>
          <p:cNvSpPr>
            <a:spLocks noGrp="1"/>
          </p:cNvSpPr>
          <p:nvPr>
            <p:ph idx="1"/>
          </p:nvPr>
        </p:nvSpPr>
        <p:spPr/>
        <p:txBody>
          <a:bodyPr/>
          <a:lstStyle/>
          <a:p/>
          <a:p>
            <a:pPr>
              <a:defRPr sz="1600">
                <a:solidFill>
                  <a:srgbClr val="265528"/>
                </a:solidFill>
              </a:defRPr>
            </a:pPr>
            <a:r>
              <a:t>Dataset 1: sensor_readings.csv</a:t>
            </a:r>
          </a:p>
          <a:p>
            <a:pPr>
              <a:defRPr sz="1600">
                <a:solidFill>
                  <a:srgbClr val="265528"/>
                </a:solidFill>
              </a:defRPr>
            </a:pPr>
            <a:r>
              <a:t>100,000 baris, 11 kolom (20 mesin, interval 1 jam, Jul 2025–Jan 2026).</a:t>
            </a:r>
          </a:p>
          <a:p>
            <a:pPr>
              <a:defRPr sz="1600">
                <a:solidFill>
                  <a:srgbClr val="265528"/>
                </a:solidFill>
              </a:defRPr>
            </a:pPr>
            <a:r>
              <a:t>8 sensor: temperature, vibration, pressure, rpm, power_consumption, noise_level, humidity, operating_hours.</a:t>
            </a:r>
          </a:p>
          <a:p>
            <a:pPr>
              <a:defRPr sz="1600">
                <a:solidFill>
                  <a:srgbClr val="265528"/>
                </a:solidFill>
              </a:defRPr>
            </a:pPr>
            <a:r>
              <a:t>Target mentah: `failure` (biner, 0/1).</a:t>
            </a:r>
          </a:p>
          <a:p>
            <a:pPr>
              <a:defRPr sz="1600">
                <a:solidFill>
                  <a:srgbClr val="265528"/>
                </a:solidFill>
              </a:defRPr>
            </a:pPr>
            <a:r>
              <a:t>Dataset 2: maintenance_logs.csv</a:t>
            </a:r>
          </a:p>
          <a:p>
            <a:pPr>
              <a:defRPr sz="1600">
                <a:solidFill>
                  <a:srgbClr val="265528"/>
                </a:solidFill>
              </a:defRPr>
            </a:pPr>
            <a:r>
              <a:t>500 baris, 8 kolom (Catatan teknisi, downtime, part_replaced, biaya).</a:t>
            </a:r>
          </a:p>
        </p:txBody>
      </p:sp>
      <p:sp>
        <p:nvSpPr>
          <p:cNvPr id="4" name="Rectangle 3"/>
          <p:cNvSpPr/>
          <p:nvPr/>
        </p:nvSpPr>
        <p:spPr>
          <a:xfrm>
            <a:off x="914400" y="4114800"/>
            <a:ext cx="7315200" cy="2286000"/>
          </a:xfrm>
          <a:prstGeom prst="rect">
            <a:avLst/>
          </a:prstGeom>
          <a:noFill/>
          <a:ln w="25400">
            <a:solidFill>
              <a:srgbClr val="265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65528"/>
                </a:solidFill>
              </a:rPr>
              <a:t>--- FRAME VISUAL KOSONG ---</a:t>
            </a:r>
          </a:p>
          <a:p>
            <a:pPr algn="ctr"/>
            <a:r>
              <a:rPr sz="1400" b="1">
                <a:solidFill>
                  <a:srgbClr val="265528"/>
                </a:solidFill>
              </a:rPr>
              <a:t>(Tabel schema kedua dataset (dari data_schema.md).)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DATA QUALITY &amp; SANITY CHECK</a:t>
            </a:r>
          </a:p>
        </p:txBody>
      </p:sp>
      <p:sp>
        <p:nvSpPr>
          <p:cNvPr id="3" name="Content Placeholder 2"/>
          <p:cNvSpPr>
            <a:spLocks noGrp="1"/>
          </p:cNvSpPr>
          <p:nvPr>
            <p:ph idx="1"/>
          </p:nvPr>
        </p:nvSpPr>
        <p:spPr/>
        <p:txBody>
          <a:bodyPr/>
          <a:lstStyle/>
          <a:p/>
          <a:p>
            <a:pPr>
              <a:defRPr sz="1600">
                <a:solidFill>
                  <a:srgbClr val="265528"/>
                </a:solidFill>
              </a:defRPr>
            </a:pPr>
            <a:r>
              <a:t>Hasil Sanity Check:</a:t>
            </a:r>
          </a:p>
          <a:p>
            <a:pPr>
              <a:defRPr sz="1600">
                <a:solidFill>
                  <a:srgbClr val="265528"/>
                </a:solidFill>
              </a:defRPr>
            </a:pPr>
            <a:r>
              <a:t>`sensor_readings.csv`: 0 missing values.</a:t>
            </a:r>
          </a:p>
          <a:p>
            <a:pPr>
              <a:defRPr sz="1600">
                <a:solidFill>
                  <a:srgbClr val="265528"/>
                </a:solidFill>
              </a:defRPr>
            </a:pPr>
            <a:r>
              <a:t>`maintenance_logs.csv`: 11.8% NaN di `parts_replaced`.</a:t>
            </a:r>
          </a:p>
          <a:p>
            <a:pPr>
              <a:defRPr sz="1600">
                <a:solidFill>
                  <a:srgbClr val="265528"/>
                </a:solidFill>
              </a:defRPr>
            </a:pPr>
            <a:r>
              <a:t>Integritas Temporal: 0 gap, 0 duplikat timestamp.</a:t>
            </a:r>
          </a:p>
          <a:p>
            <a:pPr>
              <a:defRPr sz="1600">
                <a:solidFill>
                  <a:srgbClr val="265528"/>
                </a:solidFill>
              </a:defRPr>
            </a:pPr>
            <a:r>
              <a:t>Distribusi `failure`:</a:t>
            </a:r>
          </a:p>
          <a:p>
            <a:pPr>
              <a:defRPr sz="1600">
                <a:solidFill>
                  <a:srgbClr val="265528"/>
                </a:solidFill>
              </a:defRPr>
            </a:pPr>
            <a:r>
              <a:t>`failure=0`: 99,944 baris (99.944%)</a:t>
            </a:r>
          </a:p>
          <a:p>
            <a:pPr>
              <a:defRPr sz="1600">
                <a:solidFill>
                  <a:srgbClr val="265528"/>
                </a:solidFill>
              </a:defRPr>
            </a:pPr>
            <a:r>
              <a:t>`failure=1`: 56 baris (0.056%) ← Ketimpangan ekstrem.</a:t>
            </a:r>
          </a:p>
          <a:p>
            <a:pPr>
              <a:defRPr sz="1600">
                <a:solidFill>
                  <a:srgbClr val="265528"/>
                </a:solidFill>
              </a:defRPr>
            </a:pPr>
            <a:r>
              <a:t>Rata-rata setiap mesin rusak 2.8 kali.</a:t>
            </a:r>
          </a:p>
        </p:txBody>
      </p:sp>
      <p:sp>
        <p:nvSpPr>
          <p:cNvPr id="4" name="Rectangle 3"/>
          <p:cNvSpPr/>
          <p:nvPr/>
        </p:nvSpPr>
        <p:spPr>
          <a:xfrm>
            <a:off x="914400" y="4114800"/>
            <a:ext cx="7315200" cy="2286000"/>
          </a:xfrm>
          <a:prstGeom prst="rect">
            <a:avLst/>
          </a:prstGeom>
          <a:noFill/>
          <a:ln w="25400">
            <a:solidFill>
              <a:srgbClr val="265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65528"/>
                </a:solidFill>
              </a:rPr>
              <a:t>--- FRAME VISUAL KOSONG ---</a:t>
            </a:r>
          </a:p>
          <a:p>
            <a:pPr algn="ctr"/>
            <a:r>
              <a:rPr sz="1400" b="1">
                <a:solidFill>
                  <a:srgbClr val="265528"/>
                </a:solidFill>
              </a:rPr>
              <a:t>(Bar chart distribusi label biner (gunakan skala logaritmik agar kelas minoritas terlihat).)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EDA FORENSIK: FAILURE AUTOPSY</a:t>
            </a:r>
          </a:p>
        </p:txBody>
      </p:sp>
      <p:sp>
        <p:nvSpPr>
          <p:cNvPr id="3" name="Content Placeholder 2"/>
          <p:cNvSpPr>
            <a:spLocks noGrp="1"/>
          </p:cNvSpPr>
          <p:nvPr>
            <p:ph idx="1"/>
          </p:nvPr>
        </p:nvSpPr>
        <p:spPr/>
        <p:txBody>
          <a:bodyPr/>
          <a:lstStyle/>
          <a:p/>
          <a:p>
            <a:pPr>
              <a:defRPr sz="1600">
                <a:solidFill>
                  <a:srgbClr val="265528"/>
                </a:solidFill>
              </a:defRPr>
            </a:pPr>
            <a:r>
              <a:t>Metode:*Menganalisis data 72 jam sebelum setiap kejadian failure (Look-back window).</a:t>
            </a:r>
          </a:p>
          <a:p>
            <a:pPr>
              <a:defRPr sz="1600">
                <a:solidFill>
                  <a:srgbClr val="265528"/>
                </a:solidFill>
              </a:defRPr>
            </a:pPr>
            <a:r>
              <a:t>Mesin Sampel:*M-01 (4x failure), M-09 (2x failure), M-05 (1x failure).</a:t>
            </a:r>
          </a:p>
          <a:p>
            <a:pPr>
              <a:defRPr sz="1600">
                <a:solidFill>
                  <a:srgbClr val="265528"/>
                </a:solidFill>
              </a:defRPr>
            </a:pPr>
            <a:r>
              <a:t>Temuan Universal:</a:t>
            </a:r>
          </a:p>
          <a:p>
            <a:pPr>
              <a:defRPr sz="1600">
                <a:solidFill>
                  <a:srgbClr val="265528"/>
                </a:solidFill>
              </a:defRPr>
            </a:pPr>
            <a:r>
              <a:t>Sinyal mulai menyimpang perlahan pada T-48 jam.</a:t>
            </a:r>
          </a:p>
          <a:p>
            <a:pPr>
              <a:defRPr sz="1600">
                <a:solidFill>
                  <a:srgbClr val="265528"/>
                </a:solidFill>
              </a:defRPr>
            </a:pPr>
            <a:r>
              <a:t>Eskalasi kerusakan sangat tajam pada T-24 jam.</a:t>
            </a:r>
          </a:p>
          <a:p>
            <a:pPr>
              <a:defRPr sz="1600">
                <a:solidFill>
                  <a:srgbClr val="265528"/>
                </a:solidFill>
              </a:defRPr>
            </a:pPr>
            <a:r>
              <a:t>Pola ini sangat konsisten di semua mesin yang diteliti.</a:t>
            </a:r>
          </a:p>
        </p:txBody>
      </p:sp>
      <p:sp>
        <p:nvSpPr>
          <p:cNvPr id="4" name="Rectangle 3"/>
          <p:cNvSpPr/>
          <p:nvPr/>
        </p:nvSpPr>
        <p:spPr>
          <a:xfrm>
            <a:off x="914400" y="4114800"/>
            <a:ext cx="7315200" cy="2286000"/>
          </a:xfrm>
          <a:prstGeom prst="rect">
            <a:avLst/>
          </a:prstGeom>
          <a:noFill/>
          <a:ln w="25400">
            <a:solidFill>
              <a:srgbClr val="265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65528"/>
                </a:solidFill>
              </a:rPr>
              <a:t>--- FRAME VISUAL KOSONG ---</a:t>
            </a:r>
          </a:p>
          <a:p>
            <a:pPr algn="ctr"/>
            <a:r>
              <a:rPr sz="1400" b="1">
                <a:solidFill>
                  <a:srgbClr val="265528"/>
                </a:solidFill>
              </a:rPr>
              <a:t>(Screenshot grafik Failure Autopsy (menunjukkan lonjakan grafik sensor pada T-48h dan T-24h).)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ANALISIS STATISTIK SENSOR (Cohen's D)</a:t>
            </a:r>
          </a:p>
        </p:txBody>
      </p:sp>
      <p:sp>
        <p:nvSpPr>
          <p:cNvPr id="3" name="Content Placeholder 2"/>
          <p:cNvSpPr>
            <a:spLocks noGrp="1"/>
          </p:cNvSpPr>
          <p:nvPr>
            <p:ph idx="1"/>
          </p:nvPr>
        </p:nvSpPr>
        <p:spPr/>
        <p:txBody>
          <a:bodyPr/>
          <a:lstStyle/>
          <a:p/>
          <a:p>
            <a:pPr>
              <a:defRPr sz="1600">
                <a:solidFill>
                  <a:srgbClr val="265528"/>
                </a:solidFill>
              </a:defRPr>
            </a:pPr>
            <a:r>
              <a:t>Metode:*Uji ukuran efek (Cohen's d) per sensor antara kondisi sehat vs rusak.</a:t>
            </a:r>
          </a:p>
          <a:p>
            <a:pPr>
              <a:defRPr sz="1600">
                <a:solidFill>
                  <a:srgbClr val="265528"/>
                </a:solidFill>
              </a:defRPr>
            </a:pPr>
            <a:r>
              <a:t>Hasil:</a:t>
            </a:r>
          </a:p>
          <a:p>
            <a:pPr>
              <a:defRPr sz="1600">
                <a:solidFill>
                  <a:srgbClr val="265528"/>
                </a:solidFill>
              </a:defRPr>
            </a:pPr>
            <a:r>
              <a:t>Tinggi (d &gt; 2.5):*vibration (3.37), pressure (3.06), rpm (2.91), noise_level (2.89), temperature (2.71), power_consumption (2.61).</a:t>
            </a:r>
          </a:p>
          <a:p>
            <a:pPr>
              <a:defRPr sz="1600">
                <a:solidFill>
                  <a:srgbClr val="265528"/>
                </a:solidFill>
              </a:defRPr>
            </a:pPr>
            <a:r>
              <a:t>Sedang:*operating_hours (0.29), humidity (0.21).</a:t>
            </a:r>
          </a:p>
          <a:p>
            <a:pPr>
              <a:defRPr sz="1600">
                <a:solidFill>
                  <a:srgbClr val="265528"/>
                </a:solidFill>
              </a:defRPr>
            </a:pPr>
            <a:r>
              <a:t>Keputusan:*Semua sensor dipertahankan. Keputusan final diserahkan pada model feature importance.</a:t>
            </a:r>
          </a:p>
        </p:txBody>
      </p:sp>
      <p:sp>
        <p:nvSpPr>
          <p:cNvPr id="4" name="Rectangle 3"/>
          <p:cNvSpPr/>
          <p:nvPr/>
        </p:nvSpPr>
        <p:spPr>
          <a:xfrm>
            <a:off x="914400" y="4114800"/>
            <a:ext cx="7315200" cy="2286000"/>
          </a:xfrm>
          <a:prstGeom prst="rect">
            <a:avLst/>
          </a:prstGeom>
          <a:noFill/>
          <a:ln w="25400">
            <a:solidFill>
              <a:srgbClr val="265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65528"/>
                </a:solidFill>
              </a:rPr>
              <a:t>--- FRAME VISUAL KOSONG ---</a:t>
            </a:r>
          </a:p>
          <a:p>
            <a:pPr algn="ctr"/>
            <a:r>
              <a:rPr sz="1400" b="1">
                <a:solidFill>
                  <a:srgbClr val="265528"/>
                </a:solidFill>
              </a:rPr>
              <a:t>(Bar chart nilai Cohen's d per sensor (hijau untuk Besar, kuning untuk Sedang).)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TEMPORAL LABEL ENGINEERING</a:t>
            </a:r>
          </a:p>
        </p:txBody>
      </p:sp>
      <p:sp>
        <p:nvSpPr>
          <p:cNvPr id="3" name="Content Placeholder 2"/>
          <p:cNvSpPr>
            <a:spLocks noGrp="1"/>
          </p:cNvSpPr>
          <p:nvPr>
            <p:ph idx="1"/>
          </p:nvPr>
        </p:nvSpPr>
        <p:spPr/>
        <p:txBody>
          <a:bodyPr/>
          <a:lstStyle/>
          <a:p/>
          <a:p>
            <a:pPr>
              <a:defRPr sz="1600">
                <a:solidFill>
                  <a:srgbClr val="265528"/>
                </a:solidFill>
              </a:defRPr>
            </a:pPr>
            <a:r>
              <a:t>Problem:*Label asli (0/1) terlalu kaku, tidak menangkap fase degradasi awal.</a:t>
            </a:r>
          </a:p>
          <a:p>
            <a:pPr>
              <a:defRPr sz="1600">
                <a:solidFill>
                  <a:srgbClr val="265528"/>
                </a:solidFill>
              </a:defRPr>
            </a:pPr>
            <a:r>
              <a:t>Solusi:*Temporal Backward-Labeling berdasarkan EDA Forensik.</a:t>
            </a:r>
          </a:p>
          <a:p>
            <a:pPr>
              <a:defRPr sz="1600">
                <a:solidFill>
                  <a:srgbClr val="265528"/>
                </a:solidFill>
              </a:defRPr>
            </a:pPr>
            <a:r>
              <a:t>T_failure → CRITICAL*(24 jam sebelumnya).</a:t>
            </a:r>
          </a:p>
          <a:p>
            <a:pPr>
              <a:defRPr sz="1600">
                <a:solidFill>
                  <a:srgbClr val="265528"/>
                </a:solidFill>
              </a:defRPr>
            </a:pPr>
            <a:r>
              <a:t>T_failure - 24h → WARNING*(24-48 jam sebelumnya).</a:t>
            </a:r>
          </a:p>
          <a:p>
            <a:pPr>
              <a:defRPr sz="1600">
                <a:solidFill>
                  <a:srgbClr val="265528"/>
                </a:solidFill>
              </a:defRPr>
            </a:pPr>
            <a:r>
              <a:t>Sebelum T-48h → HEALTHY.</a:t>
            </a:r>
          </a:p>
          <a:p>
            <a:pPr>
              <a:defRPr sz="1600">
                <a:solidFill>
                  <a:srgbClr val="265528"/>
                </a:solidFill>
              </a:defRPr>
            </a:pPr>
            <a:r>
              <a:t>Sensor Confirmation Layer:*Validasi threshold P90 (minimal 2 sensor melampaui batas normal).</a:t>
            </a:r>
          </a:p>
          <a:p>
            <a:pPr>
              <a:defRPr sz="1600">
                <a:solidFill>
                  <a:srgbClr val="265528"/>
                </a:solidFill>
              </a:defRPr>
            </a:pPr>
            <a:r>
              <a:t>Hasil Transformasi:*HEALTHY=97,364 | WARNING=1,247 | CRITICAL=1,389.</a:t>
            </a:r>
          </a:p>
        </p:txBody>
      </p:sp>
      <p:sp>
        <p:nvSpPr>
          <p:cNvPr id="4" name="Rectangle 3"/>
          <p:cNvSpPr/>
          <p:nvPr/>
        </p:nvSpPr>
        <p:spPr>
          <a:xfrm>
            <a:off x="914400" y="4114800"/>
            <a:ext cx="7315200" cy="2286000"/>
          </a:xfrm>
          <a:prstGeom prst="rect">
            <a:avLst/>
          </a:prstGeom>
          <a:noFill/>
          <a:ln w="25400">
            <a:solidFill>
              <a:srgbClr val="265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65528"/>
                </a:solidFill>
              </a:rPr>
              <a:t>--- FRAME VISUAL KOSONG ---</a:t>
            </a:r>
          </a:p>
          <a:p>
            <a:pPr algn="ctr"/>
            <a:r>
              <a:rPr sz="1400" b="1">
                <a:solidFill>
                  <a:srgbClr val="265528"/>
                </a:solidFill>
              </a:rPr>
              <a:t>(Diagram timeline visual zona HEALTHY → WARNING → CRITICAL.)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FEATURE ENGINEERING</a:t>
            </a:r>
          </a:p>
        </p:txBody>
      </p:sp>
      <p:sp>
        <p:nvSpPr>
          <p:cNvPr id="3" name="Content Placeholder 2"/>
          <p:cNvSpPr>
            <a:spLocks noGrp="1"/>
          </p:cNvSpPr>
          <p:nvPr>
            <p:ph idx="1"/>
          </p:nvPr>
        </p:nvSpPr>
        <p:spPr/>
        <p:txBody>
          <a:bodyPr/>
          <a:lstStyle/>
          <a:p/>
          <a:p>
            <a:pPr>
              <a:defRPr sz="1600">
                <a:solidFill>
                  <a:srgbClr val="265528"/>
                </a:solidFill>
              </a:defRPr>
            </a:pPr>
            <a:r>
              <a:t>Total:*Mengekspansi 8 sensor mentah menjadi 69 fitur informatif.</a:t>
            </a:r>
          </a:p>
          <a:p>
            <a:pPr>
              <a:defRPr sz="1600">
                <a:solidFill>
                  <a:srgbClr val="265528"/>
                </a:solidFill>
              </a:defRPr>
            </a:pPr>
            <a:r>
              <a:t>Kategori Fitur:</a:t>
            </a:r>
          </a:p>
          <a:p>
            <a:pPr>
              <a:defRPr sz="1600">
                <a:solidFill>
                  <a:srgbClr val="265528"/>
                </a:solidFill>
              </a:defRPr>
            </a:pPr>
            <a:r>
              <a:t>Rolling Statistics (36 fitur):*Mean, std, max dengan window 24h &amp; 48h.</a:t>
            </a:r>
          </a:p>
          <a:p>
            <a:pPr>
              <a:defRPr sz="1600">
                <a:solidFill>
                  <a:srgbClr val="265528"/>
                </a:solidFill>
              </a:defRPr>
            </a:pPr>
            <a:r>
              <a:t>Lag Features (18 fitur):*Shift nilai sensor pada 6h, 12h, 24h ke belakang.</a:t>
            </a:r>
          </a:p>
          <a:p>
            <a:pPr>
              <a:defRPr sz="1600">
                <a:solidFill>
                  <a:srgbClr val="265528"/>
                </a:solidFill>
              </a:defRPr>
            </a:pPr>
            <a:r>
              <a:t>Cross-Sensor Ratios (4 fitur):*Rasio antar sensor (misal temp/vibration).</a:t>
            </a:r>
          </a:p>
          <a:p>
            <a:pPr>
              <a:defRPr sz="1600">
                <a:solidFill>
                  <a:srgbClr val="265528"/>
                </a:solidFill>
              </a:defRPr>
            </a:pPr>
            <a:r>
              <a:t>Degradation Proxy (1 fitur):*Jam sejak maintenance terakhir (`hours_since_last_maint`).</a:t>
            </a:r>
          </a:p>
          <a:p>
            <a:pPr>
              <a:defRPr sz="1600">
                <a:solidFill>
                  <a:srgbClr val="265528"/>
                </a:solidFill>
              </a:defRPr>
            </a:pPr>
            <a:r>
              <a:t>NLP Text Mining (2 fitur):*`damage_category` &amp; `severity_score` dari log maintenance.</a:t>
            </a:r>
          </a:p>
        </p:txBody>
      </p:sp>
      <p:sp>
        <p:nvSpPr>
          <p:cNvPr id="4" name="Rectangle 3"/>
          <p:cNvSpPr/>
          <p:nvPr/>
        </p:nvSpPr>
        <p:spPr>
          <a:xfrm>
            <a:off x="914400" y="4114800"/>
            <a:ext cx="7315200" cy="2286000"/>
          </a:xfrm>
          <a:prstGeom prst="rect">
            <a:avLst/>
          </a:prstGeom>
          <a:noFill/>
          <a:ln w="25400">
            <a:solidFill>
              <a:srgbClr val="265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65528"/>
                </a:solidFill>
              </a:rPr>
              <a:t>--- FRAME VISUAL KOSONG ---</a:t>
            </a:r>
          </a:p>
          <a:p>
            <a:pPr algn="ctr"/>
            <a:r>
              <a:rPr sz="1400" b="1">
                <a:solidFill>
                  <a:srgbClr val="265528"/>
                </a:solidFill>
              </a:rPr>
              <a:t>(Diagram alur ekstraksi raw sensor → engineered features.)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RUL TARGET ENGINEERING</a:t>
            </a:r>
          </a:p>
        </p:txBody>
      </p:sp>
      <p:sp>
        <p:nvSpPr>
          <p:cNvPr id="3" name="Content Placeholder 2"/>
          <p:cNvSpPr>
            <a:spLocks noGrp="1"/>
          </p:cNvSpPr>
          <p:nvPr>
            <p:ph idx="1"/>
          </p:nvPr>
        </p:nvSpPr>
        <p:spPr/>
        <p:txBody>
          <a:bodyPr/>
          <a:lstStyle/>
          <a:p/>
          <a:p>
            <a:pPr>
              <a:defRPr sz="1600">
                <a:solidFill>
                  <a:srgbClr val="265528"/>
                </a:solidFill>
              </a:defRPr>
            </a:pPr>
            <a:r>
              <a:t>Problem:*Model 2 membutuhkan target numerik RUL (Remaining Useful Life).</a:t>
            </a:r>
          </a:p>
          <a:p>
            <a:pPr>
              <a:defRPr sz="1600">
                <a:solidFill>
                  <a:srgbClr val="265528"/>
                </a:solidFill>
              </a:defRPr>
            </a:pPr>
            <a:r>
              <a:t>Definisi RUL:*Waktu tersisa (dalam hari) sebelum mesin akan rusak (failure berikutnya).</a:t>
            </a:r>
          </a:p>
          <a:p>
            <a:pPr>
              <a:defRPr sz="1600">
                <a:solidFill>
                  <a:srgbClr val="265528"/>
                </a:solidFill>
              </a:defRPr>
            </a:pPr>
            <a:r>
              <a:t>Scope Model:*Hanya dihitung untuk baris data dengan label WARNING dan CRITICAL. Kondisi HEALTHY tidak reliable untuk prediksi RUL jangka panjang.</a:t>
            </a:r>
          </a:p>
          <a:p>
            <a:pPr>
              <a:defRPr sz="1600">
                <a:solidFill>
                  <a:srgbClr val="265528"/>
                </a:solidFill>
              </a:defRPr>
            </a:pPr>
            <a:r>
              <a:t>Statistik RUL:*WARNING median ~2 hari, CRITICAL median ~1 hari.</a:t>
            </a:r>
          </a:p>
        </p:txBody>
      </p:sp>
      <p:sp>
        <p:nvSpPr>
          <p:cNvPr id="4" name="Rectangle 3"/>
          <p:cNvSpPr/>
          <p:nvPr/>
        </p:nvSpPr>
        <p:spPr>
          <a:xfrm>
            <a:off x="914400" y="4114800"/>
            <a:ext cx="7315200" cy="2286000"/>
          </a:xfrm>
          <a:prstGeom prst="rect">
            <a:avLst/>
          </a:prstGeom>
          <a:noFill/>
          <a:ln w="25400">
            <a:solidFill>
              <a:srgbClr val="265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65528"/>
                </a:solidFill>
              </a:rPr>
              <a:t>--- FRAME VISUAL KOSONG ---</a:t>
            </a:r>
          </a:p>
          <a:p>
            <a:pPr algn="ctr"/>
            <a:r>
              <a:rPr sz="1400" b="1">
                <a:solidFill>
                  <a:srgbClr val="265528"/>
                </a:solidFill>
              </a:rPr>
              <a:t>(Histogram/Boxplot distribusi rul_days.)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IMBALANCE HANDLING (SSBS + SMOTE)</a:t>
            </a:r>
          </a:p>
        </p:txBody>
      </p:sp>
      <p:sp>
        <p:nvSpPr>
          <p:cNvPr id="3" name="Content Placeholder 2"/>
          <p:cNvSpPr>
            <a:spLocks noGrp="1"/>
          </p:cNvSpPr>
          <p:nvPr>
            <p:ph idx="1"/>
          </p:nvPr>
        </p:nvSpPr>
        <p:spPr/>
        <p:txBody>
          <a:bodyPr/>
          <a:lstStyle/>
          <a:p/>
          <a:p>
            <a:pPr>
              <a:defRPr sz="1600">
                <a:solidFill>
                  <a:srgbClr val="265528"/>
                </a:solidFill>
              </a:defRPr>
            </a:pPr>
            <a:r>
              <a:t>Problem:*Data HEALTHY mendominasi (97%).</a:t>
            </a:r>
          </a:p>
          <a:p>
            <a:pPr>
              <a:defRPr sz="1600">
                <a:solidFill>
                  <a:srgbClr val="265528"/>
                </a:solidFill>
              </a:defRPr>
            </a:pPr>
            <a:r>
              <a:t>Solusi 2 Tahap (Anti-Leakage):</a:t>
            </a:r>
          </a:p>
          <a:p>
            <a:pPr>
              <a:defRPr sz="1600">
                <a:solidFill>
                  <a:srgbClr val="265528"/>
                </a:solidFill>
              </a:defRPr>
            </a:pPr>
            <a:r>
              <a:t>Tahap 1: SSBS (Stratified Sequential Block Sampling):*Mengambil blok kronologis kondisi prima dan blok pre-warning. Ukuran data turun dari 100k → 20,423 baris dengan integritas waktu terjaga.</a:t>
            </a:r>
          </a:p>
          <a:p>
            <a:pPr>
              <a:defRPr sz="1600">
                <a:solidFill>
                  <a:srgbClr val="265528"/>
                </a:solidFill>
              </a:defRPr>
            </a:pPr>
            <a:r>
              <a:t>Tahap 2: SMOTE:*Diaplikasikan HANYA pada X_train untuk mensintesis kelas minoritas menjadi 4,000 baris.</a:t>
            </a:r>
          </a:p>
        </p:txBody>
      </p:sp>
      <p:sp>
        <p:nvSpPr>
          <p:cNvPr id="4" name="Rectangle 3"/>
          <p:cNvSpPr/>
          <p:nvPr/>
        </p:nvSpPr>
        <p:spPr>
          <a:xfrm>
            <a:off x="914400" y="4114800"/>
            <a:ext cx="7315200" cy="2286000"/>
          </a:xfrm>
          <a:prstGeom prst="rect">
            <a:avLst/>
          </a:prstGeom>
          <a:noFill/>
          <a:ln w="25400">
            <a:solidFill>
              <a:srgbClr val="265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65528"/>
                </a:solidFill>
              </a:rPr>
              <a:t>--- FRAME VISUAL KOSONG ---</a:t>
            </a:r>
          </a:p>
          <a:p>
            <a:pPr algn="ctr"/>
            <a:r>
              <a:rPr sz="1400" b="1">
                <a:solidFill>
                  <a:srgbClr val="265528"/>
                </a:solidFill>
              </a:rPr>
              <a:t>(Diagram timeline: urutan SSBS → Split → SMOTE. Bar chart perbandingan jumlah kelas.)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DATA SPLITTING &amp; ANTI-LEAKAGE</a:t>
            </a:r>
          </a:p>
        </p:txBody>
      </p:sp>
      <p:sp>
        <p:nvSpPr>
          <p:cNvPr id="3" name="Content Placeholder 2"/>
          <p:cNvSpPr>
            <a:spLocks noGrp="1"/>
          </p:cNvSpPr>
          <p:nvPr>
            <p:ph idx="1"/>
          </p:nvPr>
        </p:nvSpPr>
        <p:spPr/>
        <p:txBody>
          <a:bodyPr/>
          <a:lstStyle/>
          <a:p/>
          <a:p>
            <a:pPr>
              <a:defRPr sz="1600">
                <a:solidFill>
                  <a:srgbClr val="265528"/>
                </a:solidFill>
              </a:defRPr>
            </a:pPr>
            <a:r>
              <a:t>Strategi:*Machine-Based Split (Bukan Global Temporal).</a:t>
            </a:r>
          </a:p>
          <a:p>
            <a:pPr>
              <a:defRPr sz="1600">
                <a:solidFill>
                  <a:srgbClr val="265528"/>
                </a:solidFill>
              </a:defRPr>
            </a:pPr>
            <a:r>
              <a:t>Train (70%):*Mesin M-01 s/d M-14.</a:t>
            </a:r>
          </a:p>
          <a:p>
            <a:pPr>
              <a:defRPr sz="1600">
                <a:solidFill>
                  <a:srgbClr val="265528"/>
                </a:solidFill>
              </a:defRPr>
            </a:pPr>
            <a:r>
              <a:t>Val (16%):*Mesin M-15, M-16, M-17.</a:t>
            </a:r>
          </a:p>
          <a:p>
            <a:pPr>
              <a:defRPr sz="1600">
                <a:solidFill>
                  <a:srgbClr val="265528"/>
                </a:solidFill>
              </a:defRPr>
            </a:pPr>
            <a:r>
              <a:t>Test (13%):*Mesin M-18, M-19, M-20.</a:t>
            </a:r>
          </a:p>
          <a:p>
            <a:pPr>
              <a:defRPr sz="1600">
                <a:solidFill>
                  <a:srgbClr val="265528"/>
                </a:solidFill>
              </a:defRPr>
            </a:pPr>
            <a:r>
              <a:t>Alasan:*Split berbasis waktu global akan menyebabkan kelas WARNING/CRITICAL terkumpul di Test set (karena data run-to-failure).</a:t>
            </a:r>
          </a:p>
          <a:p>
            <a:pPr>
              <a:defRPr sz="1600">
                <a:solidFill>
                  <a:srgbClr val="265528"/>
                </a:solidFill>
              </a:defRPr>
            </a:pPr>
            <a:r>
              <a:t>Tindakan Anti-Leakage:*Scaler di-fit hanya di data Train; zero overlap antar dataset terverifikasi.</a:t>
            </a:r>
          </a:p>
        </p:txBody>
      </p:sp>
      <p:sp>
        <p:nvSpPr>
          <p:cNvPr id="4" name="Rectangle 3"/>
          <p:cNvSpPr/>
          <p:nvPr/>
        </p:nvSpPr>
        <p:spPr>
          <a:xfrm>
            <a:off x="914400" y="4114800"/>
            <a:ext cx="7315200" cy="2286000"/>
          </a:xfrm>
          <a:prstGeom prst="rect">
            <a:avLst/>
          </a:prstGeom>
          <a:noFill/>
          <a:ln w="25400">
            <a:solidFill>
              <a:srgbClr val="265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65528"/>
                </a:solidFill>
              </a:rPr>
              <a:t>--- FRAME VISUAL KOSONG ---</a:t>
            </a:r>
          </a:p>
          <a:p>
            <a:pPr algn="ctr"/>
            <a:r>
              <a:rPr sz="1400" b="1">
                <a:solidFill>
                  <a:srgbClr val="265528"/>
                </a:solidFill>
              </a:rPr>
              <a:t>(Tabel/Diagram pembagian mesin ke 3 split.)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STRATEGI EKSPERIMEN</a:t>
            </a:r>
          </a:p>
        </p:txBody>
      </p:sp>
      <p:sp>
        <p:nvSpPr>
          <p:cNvPr id="3" name="Content Placeholder 2"/>
          <p:cNvSpPr>
            <a:spLocks noGrp="1"/>
          </p:cNvSpPr>
          <p:nvPr>
            <p:ph idx="1"/>
          </p:nvPr>
        </p:nvSpPr>
        <p:spPr/>
        <p:txBody>
          <a:bodyPr/>
          <a:lstStyle/>
          <a:p/>
          <a:p>
            <a:pPr>
              <a:defRPr sz="1600">
                <a:solidFill>
                  <a:srgbClr val="265528"/>
                </a:solidFill>
              </a:defRPr>
            </a:pPr>
            <a:r>
              <a:t>Track A — Model 1 (Classifier):*3 algoritma</a:t>
            </a:r>
          </a:p>
          <a:p>
            <a:pPr>
              <a:defRPr sz="1600">
                <a:solidFill>
                  <a:srgbClr val="265528"/>
                </a:solidFill>
              </a:defRPr>
            </a:pPr>
            <a:r>
              <a:t>Random Forest (baseline)</a:t>
            </a:r>
          </a:p>
          <a:p>
            <a:pPr>
              <a:defRPr sz="1600">
                <a:solidFill>
                  <a:srgbClr val="265528"/>
                </a:solidFill>
              </a:defRPr>
            </a:pPr>
            <a:r>
              <a:t>XGBoost Classifier</a:t>
            </a:r>
          </a:p>
          <a:p>
            <a:pPr>
              <a:defRPr sz="1600">
                <a:solidFill>
                  <a:srgbClr val="265528"/>
                </a:solidFill>
              </a:defRPr>
            </a:pPr>
            <a:r>
              <a:t>LightGBM Classifier</a:t>
            </a:r>
          </a:p>
          <a:p>
            <a:pPr>
              <a:defRPr sz="1600">
                <a:solidFill>
                  <a:srgbClr val="265528"/>
                </a:solidFill>
              </a:defRPr>
            </a:pPr>
            <a:r>
              <a:t>Track B — Model 2 (RUL Regressor):*3 algoritma</a:t>
            </a:r>
          </a:p>
          <a:p>
            <a:pPr>
              <a:defRPr sz="1600">
                <a:solidFill>
                  <a:srgbClr val="265528"/>
                </a:solidFill>
              </a:defRPr>
            </a:pPr>
            <a:r>
              <a:t>XGBoost Regressor</a:t>
            </a:r>
          </a:p>
          <a:p>
            <a:pPr>
              <a:defRPr sz="1600">
                <a:solidFill>
                  <a:srgbClr val="265528"/>
                </a:solidFill>
              </a:defRPr>
            </a:pPr>
            <a:r>
              <a:t>LSTM (Long Short-Term Memory)</a:t>
            </a:r>
          </a:p>
          <a:p>
            <a:pPr>
              <a:defRPr sz="1600">
                <a:solidFill>
                  <a:srgbClr val="265528"/>
                </a:solidFill>
              </a:defRPr>
            </a:pPr>
            <a:r>
              <a:t>GRU (Gated Recurrent Unit)</a:t>
            </a:r>
          </a:p>
          <a:p>
            <a:pPr>
              <a:defRPr sz="1600">
                <a:solidFill>
                  <a:srgbClr val="265528"/>
                </a:solidFill>
              </a:defRPr>
            </a:pPr>
            <a:r>
              <a:t>Prinsip:*Fair comparison dengan input data dan metrik yang identik. Seed dikunci di 42.</a:t>
            </a:r>
          </a:p>
        </p:txBody>
      </p:sp>
      <p:sp>
        <p:nvSpPr>
          <p:cNvPr id="4" name="Rectangle 3"/>
          <p:cNvSpPr/>
          <p:nvPr/>
        </p:nvSpPr>
        <p:spPr>
          <a:xfrm>
            <a:off x="914400" y="4114800"/>
            <a:ext cx="7315200" cy="2286000"/>
          </a:xfrm>
          <a:prstGeom prst="rect">
            <a:avLst/>
          </a:prstGeom>
          <a:noFill/>
          <a:ln w="25400">
            <a:solidFill>
              <a:srgbClr val="265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65528"/>
                </a:solidFill>
              </a:rPr>
              <a:t>--- FRAME VISUAL KOSONG ---</a:t>
            </a:r>
          </a:p>
          <a:p>
            <a:pPr algn="ctr"/>
            <a:r>
              <a:rPr sz="1400" b="1">
                <a:solidFill>
                  <a:srgbClr val="265528"/>
                </a:solidFill>
              </a:rPr>
              <a:t>(Matrix diagram eksperimen Track A &amp; 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MODEL 1: CLASSIFIER EXPERIMENTS</a:t>
            </a:r>
          </a:p>
        </p:txBody>
      </p:sp>
      <p:sp>
        <p:nvSpPr>
          <p:cNvPr id="3" name="Content Placeholder 2"/>
          <p:cNvSpPr>
            <a:spLocks noGrp="1"/>
          </p:cNvSpPr>
          <p:nvPr>
            <p:ph idx="1"/>
          </p:nvPr>
        </p:nvSpPr>
        <p:spPr/>
        <p:txBody>
          <a:bodyPr/>
          <a:lstStyle/>
          <a:p/>
          <a:p>
            <a:pPr>
              <a:defRPr sz="1600">
                <a:solidFill>
                  <a:srgbClr val="265528"/>
                </a:solidFill>
              </a:defRPr>
            </a:pPr>
            <a:r>
              <a:t>Random Forest:*F1 Val=0.9292 | F1 Test=0.9914 (Baseline yang bagus).</a:t>
            </a:r>
          </a:p>
          <a:p>
            <a:pPr>
              <a:defRPr sz="1600">
                <a:solidFill>
                  <a:srgbClr val="265528"/>
                </a:solidFill>
              </a:defRPr>
            </a:pPr>
            <a:r>
              <a:t>XGBoost V2 + Threshold (0.60):*F1 Val=0.9894 | F1 Test=0.9906.</a:t>
            </a:r>
          </a:p>
          <a:p>
            <a:pPr>
              <a:defRPr sz="1600">
                <a:solidFill>
                  <a:srgbClr val="265528"/>
                </a:solidFill>
              </a:defRPr>
            </a:pPr>
            <a:r>
              <a:t>Threshold WARNING digeser ke 0.60 untuk meminimalkan false alarm (peringatan palsu).</a:t>
            </a:r>
          </a:p>
          <a:p>
            <a:pPr>
              <a:defRPr sz="1600">
                <a:solidFill>
                  <a:srgbClr val="265528"/>
                </a:solidFill>
              </a:defRPr>
            </a:pPr>
            <a:r>
              <a:t>LightGBM:*F1 Val=0.9845 | F1 Test=0.9876 (Early stopping terlalu agresif).</a:t>
            </a:r>
          </a:p>
          <a:p>
            <a:pPr>
              <a:defRPr sz="1600">
                <a:solidFill>
                  <a:srgbClr val="265528"/>
                </a:solidFill>
              </a:defRPr>
            </a:pPr>
            <a:r>
              <a:t>Keputusan:*XGBoost V2 + Threshold terpilih sebagai Model 1.</a:t>
            </a:r>
          </a:p>
        </p:txBody>
      </p:sp>
      <p:sp>
        <p:nvSpPr>
          <p:cNvPr id="4" name="Rectangle 3"/>
          <p:cNvSpPr/>
          <p:nvPr/>
        </p:nvSpPr>
        <p:spPr>
          <a:xfrm>
            <a:off x="914400" y="4114800"/>
            <a:ext cx="7315200" cy="2286000"/>
          </a:xfrm>
          <a:prstGeom prst="rect">
            <a:avLst/>
          </a:prstGeom>
          <a:noFill/>
          <a:ln w="25400">
            <a:solidFill>
              <a:srgbClr val="265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65528"/>
                </a:solidFill>
              </a:rPr>
              <a:t>--- FRAME VISUAL KOSONG ---</a:t>
            </a:r>
          </a:p>
          <a:p>
            <a:pPr algn="ctr"/>
            <a:r>
              <a:rPr sz="1400" b="1">
                <a:solidFill>
                  <a:srgbClr val="265528"/>
                </a:solidFill>
              </a:rPr>
              <a:t>(Bar chart F1 Macro (Val vs Test) ketiga model.)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MODEL 2: RUL PREDICTOR EXPERIMENTS</a:t>
            </a:r>
          </a:p>
        </p:txBody>
      </p:sp>
      <p:sp>
        <p:nvSpPr>
          <p:cNvPr id="3" name="Content Placeholder 2"/>
          <p:cNvSpPr>
            <a:spLocks noGrp="1"/>
          </p:cNvSpPr>
          <p:nvPr>
            <p:ph idx="1"/>
          </p:nvPr>
        </p:nvSpPr>
        <p:spPr/>
        <p:txBody>
          <a:bodyPr/>
          <a:lstStyle/>
          <a:p/>
          <a:p>
            <a:pPr>
              <a:defRPr sz="1600">
                <a:solidFill>
                  <a:srgbClr val="265528"/>
                </a:solidFill>
              </a:defRPr>
            </a:pPr>
            <a:r>
              <a:t>Scope:*Hanya bekerja pada rentang data WARNING &amp; CRITICAL.</a:t>
            </a:r>
          </a:p>
          <a:p>
            <a:pPr>
              <a:defRPr sz="1600">
                <a:solidFill>
                  <a:srgbClr val="265528"/>
                </a:solidFill>
              </a:defRPr>
            </a:pPr>
            <a:r>
              <a:t>XGBoost Regressor:*MAE Test = 1.10 hari, Error ≤ 1 hari = 93.5%.</a:t>
            </a:r>
          </a:p>
          <a:p>
            <a:pPr>
              <a:defRPr sz="1600">
                <a:solidFill>
                  <a:srgbClr val="265528"/>
                </a:solidFill>
              </a:defRPr>
            </a:pPr>
            <a:r>
              <a:t>LSTM V2:*MAE Test = 0.80 hari, Error ≤ 1 hari = 98.0%.</a:t>
            </a:r>
          </a:p>
          <a:p>
            <a:pPr>
              <a:defRPr sz="1600">
                <a:solidFill>
                  <a:srgbClr val="265528"/>
                </a:solidFill>
              </a:defRPr>
            </a:pPr>
            <a:r>
              <a:t>GRU:*MAE Test = 0.95 hari (Overspecialize di CRITICAL, buruk di WARNING).</a:t>
            </a:r>
          </a:p>
          <a:p>
            <a:pPr>
              <a:defRPr sz="1600">
                <a:solidFill>
                  <a:srgbClr val="265528"/>
                </a:solidFill>
              </a:defRPr>
            </a:pPr>
            <a:r>
              <a:t>Keputusan:*Arsitektur LSTM V2 (Deep Learning) terpilih sebagai Model 2.</a:t>
            </a:r>
          </a:p>
        </p:txBody>
      </p:sp>
      <p:sp>
        <p:nvSpPr>
          <p:cNvPr id="4" name="Rectangle 3"/>
          <p:cNvSpPr/>
          <p:nvPr/>
        </p:nvSpPr>
        <p:spPr>
          <a:xfrm>
            <a:off x="914400" y="4114800"/>
            <a:ext cx="7315200" cy="2286000"/>
          </a:xfrm>
          <a:prstGeom prst="rect">
            <a:avLst/>
          </a:prstGeom>
          <a:noFill/>
          <a:ln w="25400">
            <a:solidFill>
              <a:srgbClr val="265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65528"/>
                </a:solidFill>
              </a:rPr>
              <a:t>--- FRAME VISUAL KOSONG ---</a:t>
            </a:r>
          </a:p>
          <a:p>
            <a:pPr algn="ctr"/>
            <a:r>
              <a:rPr sz="1400" b="1">
                <a:solidFill>
                  <a:srgbClr val="265528"/>
                </a:solidFill>
              </a:rPr>
              <a:t>(Bar chart perbandingan MAE Test ketiga model.)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ARSITEKTUR LSTM</a:t>
            </a:r>
          </a:p>
        </p:txBody>
      </p:sp>
      <p:sp>
        <p:nvSpPr>
          <p:cNvPr id="3" name="Content Placeholder 2"/>
          <p:cNvSpPr>
            <a:spLocks noGrp="1"/>
          </p:cNvSpPr>
          <p:nvPr>
            <p:ph idx="1"/>
          </p:nvPr>
        </p:nvSpPr>
        <p:spPr/>
        <p:txBody>
          <a:bodyPr/>
          <a:lstStyle/>
          <a:p/>
          <a:p>
            <a:pPr>
              <a:defRPr sz="1600">
                <a:solidFill>
                  <a:srgbClr val="265528"/>
                </a:solidFill>
              </a:defRPr>
            </a:pPr>
            <a:r>
              <a:t>Input:*Sequence 24 timestep (jam) × 69 fitur.</a:t>
            </a:r>
          </a:p>
          <a:p>
            <a:pPr>
              <a:defRPr sz="1600">
                <a:solidFill>
                  <a:srgbClr val="265528"/>
                </a:solidFill>
              </a:defRPr>
            </a:pPr>
            <a:r>
              <a:t>Struktur Layer:</a:t>
            </a:r>
          </a:p>
          <a:p>
            <a:pPr>
              <a:defRPr sz="1600">
                <a:solidFill>
                  <a:srgbClr val="265528"/>
                </a:solidFill>
              </a:defRPr>
            </a:pPr>
            <a:r>
              <a:t>LSTM(64) + Dropout(0.3) + BatchNorm</a:t>
            </a:r>
          </a:p>
          <a:p>
            <a:pPr>
              <a:defRPr sz="1600">
                <a:solidFill>
                  <a:srgbClr val="265528"/>
                </a:solidFill>
              </a:defRPr>
            </a:pPr>
            <a:r>
              <a:t>LSTM(32) + Dropout(0.3) + BatchNorm</a:t>
            </a:r>
          </a:p>
          <a:p>
            <a:pPr>
              <a:defRPr sz="1600">
                <a:solidFill>
                  <a:srgbClr val="265528"/>
                </a:solidFill>
              </a:defRPr>
            </a:pPr>
            <a:r>
              <a:t>Dense(16, ReLU) → Dense(1, Linear) untuk output float `rul_days`.</a:t>
            </a:r>
          </a:p>
          <a:p>
            <a:pPr>
              <a:defRPr sz="1600">
                <a:solidFill>
                  <a:srgbClr val="265528"/>
                </a:solidFill>
              </a:defRPr>
            </a:pPr>
            <a:r>
              <a:t>Hyperparameter &amp; Regularisasi:</a:t>
            </a:r>
          </a:p>
          <a:p>
            <a:pPr>
              <a:defRPr sz="1600">
                <a:solidFill>
                  <a:srgbClr val="265528"/>
                </a:solidFill>
              </a:defRPr>
            </a:pPr>
            <a:r>
              <a:t>Total parameter: 47,649.</a:t>
            </a:r>
          </a:p>
          <a:p>
            <a:pPr>
              <a:defRPr sz="1600">
                <a:solidFill>
                  <a:srgbClr val="265528"/>
                </a:solidFill>
              </a:defRPr>
            </a:pPr>
            <a:r>
              <a:t>L2 Regularization (0.001) untuk mencegah overfitting.</a:t>
            </a:r>
          </a:p>
          <a:p>
            <a:pPr>
              <a:defRPr sz="1600">
                <a:solidFill>
                  <a:srgbClr val="265528"/>
                </a:solidFill>
              </a:defRPr>
            </a:pPr>
            <a:r>
              <a:t>Callbacks: EarlyStopping, ReduceLROnPlateau, ModelCheckpoint.</a:t>
            </a:r>
          </a:p>
        </p:txBody>
      </p:sp>
      <p:sp>
        <p:nvSpPr>
          <p:cNvPr id="4" name="Rectangle 3"/>
          <p:cNvSpPr/>
          <p:nvPr/>
        </p:nvSpPr>
        <p:spPr>
          <a:xfrm>
            <a:off x="914400" y="4114800"/>
            <a:ext cx="7315200" cy="2286000"/>
          </a:xfrm>
          <a:prstGeom prst="rect">
            <a:avLst/>
          </a:prstGeom>
          <a:noFill/>
          <a:ln w="25400">
            <a:solidFill>
              <a:srgbClr val="265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65528"/>
                </a:solidFill>
              </a:rPr>
              <a:t>--- FRAME VISUAL KOSONG ---</a:t>
            </a:r>
          </a:p>
          <a:p>
            <a:pPr algn="ctr"/>
            <a:r>
              <a:rPr sz="1400" b="1">
                <a:solidFill>
                  <a:srgbClr val="265528"/>
                </a:solidFill>
              </a:rPr>
              <a:t>(Diagram kotak arsitektur layer LSTM dari Keras.)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EVALUASI MODEL 1 (CLASSIFIER)</a:t>
            </a:r>
          </a:p>
        </p:txBody>
      </p:sp>
      <p:sp>
        <p:nvSpPr>
          <p:cNvPr id="3" name="Content Placeholder 2"/>
          <p:cNvSpPr>
            <a:spLocks noGrp="1"/>
          </p:cNvSpPr>
          <p:nvPr>
            <p:ph idx="1"/>
          </p:nvPr>
        </p:nvSpPr>
        <p:spPr/>
        <p:txBody>
          <a:bodyPr/>
          <a:lstStyle/>
          <a:p/>
          <a:p>
            <a:pPr>
              <a:defRPr sz="1600">
                <a:solidFill>
                  <a:srgbClr val="265528"/>
                </a:solidFill>
              </a:defRPr>
            </a:pPr>
            <a:r>
              <a:t>Metrik Utama:*F1-Score Macro (tidak bias ke kelas mayoritas) dan Fatal Error Rate.</a:t>
            </a:r>
          </a:p>
          <a:p>
            <a:pPr>
              <a:defRPr sz="1600">
                <a:solidFill>
                  <a:srgbClr val="265528"/>
                </a:solidFill>
              </a:defRPr>
            </a:pPr>
            <a:r>
              <a:t>Performa XGBoost (Model Terpilih):</a:t>
            </a:r>
          </a:p>
          <a:p>
            <a:pPr>
              <a:defRPr sz="1600">
                <a:solidFill>
                  <a:srgbClr val="265528"/>
                </a:solidFill>
              </a:defRPr>
            </a:pPr>
            <a:r>
              <a:t>F1 Test = 0.9906*(Akurasi nyaris sempurna di mesin unseen).</a:t>
            </a:r>
          </a:p>
          <a:p>
            <a:pPr>
              <a:defRPr sz="1600">
                <a:solidFill>
                  <a:srgbClr val="265528"/>
                </a:solidFill>
              </a:defRPr>
            </a:pPr>
            <a:r>
              <a:t>AUC-ROC = 1.000*(Separabilitas sempurna antar 3 kelas).</a:t>
            </a:r>
          </a:p>
          <a:p>
            <a:pPr>
              <a:defRPr sz="1600">
                <a:solidFill>
                  <a:srgbClr val="265528"/>
                </a:solidFill>
              </a:defRPr>
            </a:pPr>
            <a:r>
              <a:t>Fatal Error = 0*(Tidak ada kondisi CRITICAL yang diprediksi salah sebagai HEALTHY).</a:t>
            </a:r>
          </a:p>
          <a:p>
            <a:pPr>
              <a:defRPr sz="1600">
                <a:solidFill>
                  <a:srgbClr val="265528"/>
                </a:solidFill>
              </a:defRPr>
            </a:pPr>
            <a:r>
              <a:t>Kecepatan inferensi: 0.0055 ms per sampel (sangat ringan).</a:t>
            </a:r>
          </a:p>
        </p:txBody>
      </p:sp>
      <p:sp>
        <p:nvSpPr>
          <p:cNvPr id="4" name="Rectangle 3"/>
          <p:cNvSpPr/>
          <p:nvPr/>
        </p:nvSpPr>
        <p:spPr>
          <a:xfrm>
            <a:off x="914400" y="4114800"/>
            <a:ext cx="7315200" cy="2286000"/>
          </a:xfrm>
          <a:prstGeom prst="rect">
            <a:avLst/>
          </a:prstGeom>
          <a:noFill/>
          <a:ln w="25400">
            <a:solidFill>
              <a:srgbClr val="265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65528"/>
                </a:solidFill>
              </a:rPr>
              <a:t>--- FRAME VISUAL KOSONG ---</a:t>
            </a:r>
          </a:p>
          <a:p>
            <a:pPr algn="ctr"/>
            <a:r>
              <a:rPr sz="1400" b="1">
                <a:solidFill>
                  <a:srgbClr val="265528"/>
                </a:solidFill>
              </a:rPr>
              <a:t>(Confusion Matrix XGBoost (Test Set). ROC Curve.)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EVALUASI MODEL 2 (RUL PREDICTOR)</a:t>
            </a:r>
          </a:p>
        </p:txBody>
      </p:sp>
      <p:sp>
        <p:nvSpPr>
          <p:cNvPr id="3" name="Content Placeholder 2"/>
          <p:cNvSpPr>
            <a:spLocks noGrp="1"/>
          </p:cNvSpPr>
          <p:nvPr>
            <p:ph idx="1"/>
          </p:nvPr>
        </p:nvSpPr>
        <p:spPr/>
        <p:txBody>
          <a:bodyPr/>
          <a:lstStyle/>
          <a:p/>
          <a:p>
            <a:pPr>
              <a:defRPr sz="1600">
                <a:solidFill>
                  <a:srgbClr val="265528"/>
                </a:solidFill>
              </a:defRPr>
            </a:pPr>
            <a:r>
              <a:t>Metrik Utama Bisnis:*MAE (Mean Absolute Error) dan Persentase Error ≤ 1 Hari.</a:t>
            </a:r>
          </a:p>
          <a:p>
            <a:pPr>
              <a:defRPr sz="1600">
                <a:solidFill>
                  <a:srgbClr val="265528"/>
                </a:solidFill>
              </a:defRPr>
            </a:pPr>
            <a:r>
              <a:t>Performa LSTM V2 (Model Terpilih):</a:t>
            </a:r>
          </a:p>
          <a:p>
            <a:pPr>
              <a:defRPr sz="1600">
                <a:solidFill>
                  <a:srgbClr val="265528"/>
                </a:solidFill>
              </a:defRPr>
            </a:pPr>
            <a:r>
              <a:t>MAE Test = 0.7985 hari.</a:t>
            </a:r>
          </a:p>
          <a:p>
            <a:pPr>
              <a:defRPr sz="1600">
                <a:solidFill>
                  <a:srgbClr val="265528"/>
                </a:solidFill>
              </a:defRPr>
            </a:pPr>
            <a:r>
              <a:t>Error ≤ 1 hari = 98.04%*(98% prediksi meleset kurang dari 24 jam).</a:t>
            </a:r>
          </a:p>
          <a:p>
            <a:pPr>
              <a:defRPr sz="1600">
                <a:solidFill>
                  <a:srgbClr val="265528"/>
                </a:solidFill>
              </a:defRPr>
            </a:pPr>
            <a:r>
              <a:t>MAE pada fase WARNING: 0.024 hari (sekitar 34 menit!)</a:t>
            </a:r>
          </a:p>
          <a:p>
            <a:pPr>
              <a:defRPr sz="1600">
                <a:solidFill>
                  <a:srgbClr val="265528"/>
                </a:solidFill>
              </a:defRPr>
            </a:pPr>
            <a:r>
              <a:t>MAE pada fase CRITICAL: 1.44 hari.</a:t>
            </a:r>
          </a:p>
        </p:txBody>
      </p:sp>
      <p:sp>
        <p:nvSpPr>
          <p:cNvPr id="4" name="Rectangle 3"/>
          <p:cNvSpPr/>
          <p:nvPr/>
        </p:nvSpPr>
        <p:spPr>
          <a:xfrm>
            <a:off x="914400" y="4114800"/>
            <a:ext cx="7315200" cy="2286000"/>
          </a:xfrm>
          <a:prstGeom prst="rect">
            <a:avLst/>
          </a:prstGeom>
          <a:noFill/>
          <a:ln w="25400">
            <a:solidFill>
              <a:srgbClr val="265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65528"/>
                </a:solidFill>
              </a:rPr>
              <a:t>--- FRAME VISUAL KOSONG ---</a:t>
            </a:r>
          </a:p>
          <a:p>
            <a:pPr algn="ctr"/>
            <a:r>
              <a:rPr sz="1400" b="1">
                <a:solidFill>
                  <a:srgbClr val="265528"/>
                </a:solidFill>
              </a:rPr>
              <a:t>(Actual vs Predicted scatter plot. Bar chart "Error ≤ 1 hari".)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FEATURE IMPORTANCE &amp; VALIDASI EDA</a:t>
            </a:r>
          </a:p>
        </p:txBody>
      </p:sp>
      <p:sp>
        <p:nvSpPr>
          <p:cNvPr id="3" name="Content Placeholder 2"/>
          <p:cNvSpPr>
            <a:spLocks noGrp="1"/>
          </p:cNvSpPr>
          <p:nvPr>
            <p:ph idx="1"/>
          </p:nvPr>
        </p:nvSpPr>
        <p:spPr/>
        <p:txBody>
          <a:bodyPr/>
          <a:lstStyle/>
          <a:p/>
          <a:p>
            <a:pPr>
              <a:defRPr sz="1600">
                <a:solidFill>
                  <a:srgbClr val="265528"/>
                </a:solidFill>
              </a:defRPr>
            </a:pPr>
            <a:r>
              <a:t>Konsensus Top 6 Fitur (Muncul di semua model pohon):</a:t>
            </a:r>
          </a:p>
          <a:p>
            <a:pPr>
              <a:defRPr sz="1600">
                <a:solidFill>
                  <a:srgbClr val="265528"/>
                </a:solidFill>
              </a:defRPr>
            </a:pPr>
            <a:r>
              <a:t>`temperature_roll_max_24h`</a:t>
            </a:r>
          </a:p>
          <a:p>
            <a:pPr>
              <a:defRPr sz="1600">
                <a:solidFill>
                  <a:srgbClr val="265528"/>
                </a:solidFill>
              </a:defRPr>
            </a:pPr>
            <a:r>
              <a:t>`noise_level_roll_mean_24h`</a:t>
            </a:r>
          </a:p>
          <a:p>
            <a:pPr>
              <a:defRPr sz="1600">
                <a:solidFill>
                  <a:srgbClr val="265528"/>
                </a:solidFill>
              </a:defRPr>
            </a:pPr>
            <a:r>
              <a:t>`temperature_roll_mean_48h`</a:t>
            </a:r>
          </a:p>
          <a:p>
            <a:pPr>
              <a:defRPr sz="1600">
                <a:solidFill>
                  <a:srgbClr val="265528"/>
                </a:solidFill>
              </a:defRPr>
            </a:pPr>
            <a:r>
              <a:t>`power_consumption_roll_mean_48h`</a:t>
            </a:r>
          </a:p>
          <a:p>
            <a:pPr>
              <a:defRPr sz="1600">
                <a:solidFill>
                  <a:srgbClr val="265528"/>
                </a:solidFill>
              </a:defRPr>
            </a:pPr>
            <a:r>
              <a:t>`vibration_roll_mean_48h`</a:t>
            </a:r>
          </a:p>
          <a:p>
            <a:pPr>
              <a:defRPr sz="1600">
                <a:solidFill>
                  <a:srgbClr val="265528"/>
                </a:solidFill>
              </a:defRPr>
            </a:pPr>
            <a:r>
              <a:t>`noise_level_roll_mean_48h`</a:t>
            </a:r>
          </a:p>
          <a:p>
            <a:pPr>
              <a:defRPr sz="1600">
                <a:solidFill>
                  <a:srgbClr val="265528"/>
                </a:solidFill>
              </a:defRPr>
            </a:pPr>
            <a:r>
              <a:t>Insight Akademis:</a:t>
            </a:r>
          </a:p>
          <a:p>
            <a:pPr>
              <a:defRPr sz="1600">
                <a:solidFill>
                  <a:srgbClr val="265528"/>
                </a:solidFill>
              </a:defRPr>
            </a:pPr>
            <a:r>
              <a:t>Fitur rolling 48 jam mendominasi (mengkonfirmasi window 48h dari EDA).</a:t>
            </a:r>
          </a:p>
          <a:p>
            <a:pPr>
              <a:defRPr sz="1600">
                <a:solidFill>
                  <a:srgbClr val="265528"/>
                </a:solidFill>
              </a:defRPr>
            </a:pPr>
            <a:r>
              <a:t>Konsisten dengan analisis statistik Cohen's d di awal proyek.</a:t>
            </a:r>
          </a:p>
        </p:txBody>
      </p:sp>
      <p:sp>
        <p:nvSpPr>
          <p:cNvPr id="4" name="Rectangle 3"/>
          <p:cNvSpPr/>
          <p:nvPr/>
        </p:nvSpPr>
        <p:spPr>
          <a:xfrm>
            <a:off x="914400" y="4114800"/>
            <a:ext cx="7315200" cy="2286000"/>
          </a:xfrm>
          <a:prstGeom prst="rect">
            <a:avLst/>
          </a:prstGeom>
          <a:noFill/>
          <a:ln w="25400">
            <a:solidFill>
              <a:srgbClr val="265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65528"/>
                </a:solidFill>
              </a:rPr>
              <a:t>--- FRAME VISUAL KOSONG ---</a:t>
            </a:r>
          </a:p>
          <a:p>
            <a:pPr algn="ctr"/>
            <a:r>
              <a:rPr sz="1400" b="1">
                <a:solidFill>
                  <a:srgbClr val="265528"/>
                </a:solidFill>
              </a:rPr>
              <a:t>(Tabel konsensus feature importance atau bar chart Top 10 fitur XGBoost.)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ANTI-OVERFITTING &amp; GENERALIZATION VALIDATION</a:t>
            </a:r>
          </a:p>
        </p:txBody>
      </p:sp>
      <p:sp>
        <p:nvSpPr>
          <p:cNvPr id="3" name="Content Placeholder 2"/>
          <p:cNvSpPr>
            <a:spLocks noGrp="1"/>
          </p:cNvSpPr>
          <p:nvPr>
            <p:ph idx="1"/>
          </p:nvPr>
        </p:nvSpPr>
        <p:spPr/>
        <p:txBody>
          <a:bodyPr/>
          <a:lstStyle/>
          <a:p/>
          <a:p>
            <a:pPr>
              <a:defRPr sz="1600">
                <a:solidFill>
                  <a:srgbClr val="265528"/>
                </a:solidFill>
              </a:defRPr>
            </a:pPr>
            <a:r>
              <a:t>Data Leakage Check (Forensic):</a:t>
            </a:r>
          </a:p>
          <a:p>
            <a:pPr>
              <a:defRPr sz="1600">
                <a:solidFill>
                  <a:srgbClr val="265528"/>
                </a:solidFill>
              </a:defRPr>
            </a:pPr>
            <a:r>
              <a:t>Scaler fit pada full data terdeteksi → DI-FIX*(scaler re-fit HANYA di train set).</a:t>
            </a:r>
          </a:p>
          <a:p>
            <a:pPr>
              <a:defRPr sz="1600">
                <a:solidFill>
                  <a:srgbClr val="265528"/>
                </a:solidFill>
              </a:defRPr>
            </a:pPr>
            <a:r>
              <a:t>SMOTE dilakukan sebelum split terdeteksi → DI-FIX*(SMOTE HANYA di X_train).</a:t>
            </a:r>
          </a:p>
          <a:p>
            <a:pPr>
              <a:defRPr sz="1600">
                <a:solidFill>
                  <a:srgbClr val="265528"/>
                </a:solidFill>
              </a:defRPr>
            </a:pPr>
            <a:r>
              <a:t>Generalization Test:</a:t>
            </a:r>
          </a:p>
          <a:p>
            <a:pPr>
              <a:defRPr sz="1600">
                <a:solidFill>
                  <a:srgbClr val="265528"/>
                </a:solidFill>
              </a:defRPr>
            </a:pPr>
            <a:r>
              <a:t>Diuji di M-18, M-19, M-20 yang 100% tidak pernah disentuh saat training.</a:t>
            </a:r>
          </a:p>
          <a:p>
            <a:pPr>
              <a:defRPr sz="1600">
                <a:solidFill>
                  <a:srgbClr val="265528"/>
                </a:solidFill>
              </a:defRPr>
            </a:pPr>
            <a:r>
              <a:t>Performa Val dan Test identik dan tinggi → generalisasi dikonfirmasi valid tanpa kebocoran data masa depan.</a:t>
            </a:r>
          </a:p>
        </p:txBody>
      </p:sp>
      <p:sp>
        <p:nvSpPr>
          <p:cNvPr id="4" name="Rectangle 3"/>
          <p:cNvSpPr/>
          <p:nvPr/>
        </p:nvSpPr>
        <p:spPr>
          <a:xfrm>
            <a:off x="914400" y="4114800"/>
            <a:ext cx="7315200" cy="2286000"/>
          </a:xfrm>
          <a:prstGeom prst="rect">
            <a:avLst/>
          </a:prstGeom>
          <a:noFill/>
          <a:ln w="25400">
            <a:solidFill>
              <a:srgbClr val="265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65528"/>
                </a:solidFill>
              </a:rPr>
              <a:t>--- FRAME VISUAL KOSONG ---</a:t>
            </a:r>
          </a:p>
          <a:p>
            <a:pPr algn="ctr"/>
            <a:r>
              <a:rPr sz="1400" b="1">
                <a:solidFill>
                  <a:srgbClr val="265528"/>
                </a:solidFill>
              </a:rPr>
              <a:t>(Checklist tabel Data Leakage (semua berstatus ✅ Fix).)</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ARSITEKTUR DEPLOYMENT</a:t>
            </a:r>
          </a:p>
        </p:txBody>
      </p:sp>
      <p:sp>
        <p:nvSpPr>
          <p:cNvPr id="3" name="Content Placeholder 2"/>
          <p:cNvSpPr>
            <a:spLocks noGrp="1"/>
          </p:cNvSpPr>
          <p:nvPr>
            <p:ph idx="1"/>
          </p:nvPr>
        </p:nvSpPr>
        <p:spPr/>
        <p:txBody>
          <a:bodyPr/>
          <a:lstStyle/>
          <a:p/>
          <a:p>
            <a:pPr>
              <a:defRPr sz="1600">
                <a:solidFill>
                  <a:srgbClr val="265528"/>
                </a:solidFill>
              </a:defRPr>
            </a:pPr>
            <a:r>
              <a:t>Sistem Microservice:*ML Service dijalankan sebagai *long-running process* via FastAPI, bukan *serverless* (model dan pipeline di-load persisten di memory).</a:t>
            </a:r>
          </a:p>
          <a:p>
            <a:pPr>
              <a:defRPr sz="1600">
                <a:solidFill>
                  <a:srgbClr val="265528"/>
                </a:solidFill>
              </a:defRPr>
            </a:pPr>
            <a:r>
              <a:t>Endpoint:*`POST /api/ml/predict`</a:t>
            </a:r>
          </a:p>
          <a:p>
            <a:pPr>
              <a:defRPr sz="1600">
                <a:solidFill>
                  <a:srgbClr val="265528"/>
                </a:solidFill>
              </a:defRPr>
            </a:pPr>
            <a:r>
              <a:t>Integrasi Backend:*Menerima raw sensor data → Output `health_label` + `rul_days` + `urgency_level`.</a:t>
            </a:r>
          </a:p>
          <a:p>
            <a:pPr>
              <a:defRPr sz="1600">
                <a:solidFill>
                  <a:srgbClr val="265528"/>
                </a:solidFill>
              </a:defRPr>
            </a:pPr>
            <a:r>
              <a:t>Urgency Mapping:</a:t>
            </a:r>
          </a:p>
          <a:p>
            <a:pPr>
              <a:defRPr sz="1600">
                <a:solidFill>
                  <a:srgbClr val="265528"/>
                </a:solidFill>
              </a:defRPr>
            </a:pPr>
            <a:r>
              <a:t>IMMEDIATE (Servis &lt; 24 jam)</a:t>
            </a:r>
          </a:p>
          <a:p>
            <a:pPr>
              <a:defRPr sz="1600">
                <a:solidFill>
                  <a:srgbClr val="265528"/>
                </a:solidFill>
              </a:defRPr>
            </a:pPr>
            <a:r>
              <a:t>CRITICAL (Servis &lt; 48 jam)</a:t>
            </a:r>
          </a:p>
          <a:p>
            <a:pPr>
              <a:defRPr sz="1600">
                <a:solidFill>
                  <a:srgbClr val="265528"/>
                </a:solidFill>
              </a:defRPr>
            </a:pPr>
            <a:r>
              <a:t>WARNING (Jadwal &lt; 7 hari)</a:t>
            </a:r>
          </a:p>
          <a:p>
            <a:pPr>
              <a:defRPr sz="1600">
                <a:solidFill>
                  <a:srgbClr val="265528"/>
                </a:solidFill>
              </a:defRPr>
            </a:pPr>
            <a:r>
              <a:t>MONITOR (Aman)</a:t>
            </a:r>
          </a:p>
        </p:txBody>
      </p:sp>
      <p:sp>
        <p:nvSpPr>
          <p:cNvPr id="4" name="Rectangle 3"/>
          <p:cNvSpPr/>
          <p:nvPr/>
        </p:nvSpPr>
        <p:spPr>
          <a:xfrm>
            <a:off x="914400" y="4114800"/>
            <a:ext cx="7315200" cy="2286000"/>
          </a:xfrm>
          <a:prstGeom prst="rect">
            <a:avLst/>
          </a:prstGeom>
          <a:noFill/>
          <a:ln w="25400">
            <a:solidFill>
              <a:srgbClr val="265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65528"/>
                </a:solidFill>
              </a:rPr>
              <a:t>--- FRAME VISUAL KOSONG ---</a:t>
            </a:r>
          </a:p>
          <a:p>
            <a:pPr algn="ctr"/>
            <a:r>
              <a:rPr sz="1400" b="1">
                <a:solidFill>
                  <a:srgbClr val="265528"/>
                </a:solidFill>
              </a:rPr>
              <a:t>(Diagram Arsitektur Deployment (Backend -&gt; FastAPI -&gt; Output JSON).)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SENSOR GAUGE THRESHOLDS UNTUK UI</a:t>
            </a:r>
          </a:p>
        </p:txBody>
      </p:sp>
      <p:sp>
        <p:nvSpPr>
          <p:cNvPr id="3" name="Content Placeholder 2"/>
          <p:cNvSpPr>
            <a:spLocks noGrp="1"/>
          </p:cNvSpPr>
          <p:nvPr>
            <p:ph idx="1"/>
          </p:nvPr>
        </p:nvSpPr>
        <p:spPr/>
        <p:txBody>
          <a:bodyPr/>
          <a:lstStyle/>
          <a:p/>
          <a:p>
            <a:pPr>
              <a:defRPr sz="1600">
                <a:solidFill>
                  <a:srgbClr val="265528"/>
                </a:solidFill>
              </a:defRPr>
            </a:pPr>
            <a:r>
              <a:t>Pembuatan Threshold Real-Time:</a:t>
            </a:r>
          </a:p>
          <a:p>
            <a:pPr>
              <a:defRPr sz="1600">
                <a:solidFill>
                  <a:srgbClr val="265528"/>
                </a:solidFill>
              </a:defRPr>
            </a:pPr>
            <a:r>
              <a:t>Zona Hijau (HEALTHY) = Nilai &lt; P90.</a:t>
            </a:r>
          </a:p>
          <a:p>
            <a:pPr>
              <a:defRPr sz="1600">
                <a:solidFill>
                  <a:srgbClr val="265528"/>
                </a:solidFill>
              </a:defRPr>
            </a:pPr>
            <a:r>
              <a:t>Zona Kuning (WARNING) = P90 ≤ Nilai &lt; P95.</a:t>
            </a:r>
          </a:p>
          <a:p>
            <a:pPr>
              <a:defRPr sz="1600">
                <a:solidFill>
                  <a:srgbClr val="265528"/>
                </a:solidFill>
              </a:defRPr>
            </a:pPr>
            <a:r>
              <a:t>Zona Merah (CRITICAL) = Nilai ≥ P95.</a:t>
            </a:r>
          </a:p>
          <a:p>
            <a:pPr>
              <a:defRPr sz="1600">
                <a:solidFill>
                  <a:srgbClr val="265528"/>
                </a:solidFill>
              </a:defRPr>
            </a:pPr>
            <a:r>
              <a:t>Validasi Overlap:*Memastikan P95 Healthy tidak bertabrakan dengan batas bawah P10 Critical. Jika tabrakan, diambil titik rata-rata.</a:t>
            </a:r>
          </a:p>
          <a:p>
            <a:pPr>
              <a:defRPr sz="1600">
                <a:solidFill>
                  <a:srgbClr val="265528"/>
                </a:solidFill>
              </a:defRPr>
            </a:pPr>
            <a:r>
              <a:t>Output:*File `gauge_thresholds_validated.json` diserahkan ke tim Frontend untuk kalibrasi instrumen *Dashboard*.</a:t>
            </a:r>
          </a:p>
        </p:txBody>
      </p:sp>
      <p:sp>
        <p:nvSpPr>
          <p:cNvPr id="4" name="Rectangle 3"/>
          <p:cNvSpPr/>
          <p:nvPr/>
        </p:nvSpPr>
        <p:spPr>
          <a:xfrm>
            <a:off x="914400" y="4114800"/>
            <a:ext cx="7315200" cy="2286000"/>
          </a:xfrm>
          <a:prstGeom prst="rect">
            <a:avLst/>
          </a:prstGeom>
          <a:noFill/>
          <a:ln w="25400">
            <a:solidFill>
              <a:srgbClr val="265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65528"/>
                </a:solidFill>
              </a:rPr>
              <a:t>--- FRAME VISUAL KOSONG ---</a:t>
            </a:r>
          </a:p>
          <a:p>
            <a:pPr algn="ctr"/>
            <a:r>
              <a:rPr sz="1400" b="1">
                <a:solidFill>
                  <a:srgbClr val="265528"/>
                </a:solidFill>
              </a:rPr>
              <a:t>(Mockup gauge chart dengan 3 zona warna (Hijau, Kuning, Merah).)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ARTIFACTS &amp; DELIVERABLES FINAL</a:t>
            </a:r>
          </a:p>
        </p:txBody>
      </p:sp>
      <p:sp>
        <p:nvSpPr>
          <p:cNvPr id="3" name="Content Placeholder 2"/>
          <p:cNvSpPr>
            <a:spLocks noGrp="1"/>
          </p:cNvSpPr>
          <p:nvPr>
            <p:ph idx="1"/>
          </p:nvPr>
        </p:nvSpPr>
        <p:spPr/>
        <p:txBody>
          <a:bodyPr/>
          <a:lstStyle/>
          <a:p/>
          <a:p>
            <a:pPr>
              <a:defRPr sz="1600">
                <a:solidFill>
                  <a:srgbClr val="265528"/>
                </a:solidFill>
              </a:defRPr>
            </a:pPr>
            <a:r>
              <a:t>Daftar Artefak yang Diserahkan (Role A):</a:t>
            </a:r>
          </a:p>
        </p:txBody>
      </p:sp>
      <p:sp>
        <p:nvSpPr>
          <p:cNvPr id="4" name="Rectangle 3"/>
          <p:cNvSpPr/>
          <p:nvPr/>
        </p:nvSpPr>
        <p:spPr>
          <a:xfrm>
            <a:off x="914400" y="4114800"/>
            <a:ext cx="7315200" cy="2286000"/>
          </a:xfrm>
          <a:prstGeom prst="rect">
            <a:avLst/>
          </a:prstGeom>
          <a:noFill/>
          <a:ln w="25400">
            <a:solidFill>
              <a:srgbClr val="265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65528"/>
                </a:solidFill>
              </a:rPr>
              <a:t>--- FRAME VISUAL KOSONG ---</a:t>
            </a:r>
          </a:p>
          <a:p>
            <a:pPr algn="ctr"/>
            <a:r>
              <a:rPr sz="1400" b="1">
                <a:solidFill>
                  <a:srgbClr val="265528"/>
                </a:solidFill>
              </a:rPr>
              <a:t>(Screenshot Real-Time Dashboard Lapis AI.)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KESIMPULAN</a:t>
            </a:r>
          </a:p>
        </p:txBody>
      </p:sp>
      <p:sp>
        <p:nvSpPr>
          <p:cNvPr id="3" name="Content Placeholder 2"/>
          <p:cNvSpPr>
            <a:spLocks noGrp="1"/>
          </p:cNvSpPr>
          <p:nvPr>
            <p:ph idx="1"/>
          </p:nvPr>
        </p:nvSpPr>
        <p:spPr/>
        <p:txBody>
          <a:bodyPr/>
          <a:lstStyle/>
          <a:p/>
          <a:p>
            <a:pPr>
              <a:defRPr sz="1600">
                <a:solidFill>
                  <a:srgbClr val="265528"/>
                </a:solidFill>
              </a:defRPr>
            </a:pPr>
            <a:r>
              <a:t>Pencapaian Model:</a:t>
            </a:r>
          </a:p>
          <a:p>
            <a:pPr>
              <a:defRPr sz="1600">
                <a:solidFill>
                  <a:srgbClr val="265528"/>
                </a:solidFill>
              </a:defRPr>
            </a:pPr>
            <a:r>
              <a:t>XGBoost (Model 1): Akurasi f1=0.9906, Zero Fatal Error.</a:t>
            </a:r>
          </a:p>
          <a:p>
            <a:pPr>
              <a:defRPr sz="1600">
                <a:solidFill>
                  <a:srgbClr val="265528"/>
                </a:solidFill>
              </a:defRPr>
            </a:pPr>
            <a:r>
              <a:t>LSTM V2 (Model 2): MAE 0.80 hari (error hanya 34 menit pada zona warning).</a:t>
            </a:r>
          </a:p>
          <a:p>
            <a:pPr>
              <a:defRPr sz="1600">
                <a:solidFill>
                  <a:srgbClr val="265528"/>
                </a:solidFill>
              </a:defRPr>
            </a:pPr>
            <a:r>
              <a:t>Kontribusi Utama Pendekatan CRISP-DM:</a:t>
            </a:r>
          </a:p>
          <a:p>
            <a:pPr>
              <a:defRPr sz="1600">
                <a:solidFill>
                  <a:srgbClr val="265528"/>
                </a:solidFill>
              </a:defRPr>
            </a:pPr>
            <a:r>
              <a:t>Rekayasa *Temporal Backward-Labelingmengatasi kelemahan target biner.</a:t>
            </a:r>
          </a:p>
          <a:p>
            <a:pPr>
              <a:defRPr sz="1600">
                <a:solidFill>
                  <a:srgbClr val="265528"/>
                </a:solidFill>
              </a:defRPr>
            </a:pPr>
            <a:r>
              <a:t>Sampling SSBS menjaga integritas waktu time-series secara murni.</a:t>
            </a:r>
          </a:p>
          <a:p>
            <a:pPr>
              <a:defRPr sz="1600">
                <a:solidFill>
                  <a:srgbClr val="265528"/>
                </a:solidFill>
              </a:defRPr>
            </a:pPr>
            <a:r>
              <a:t>Implementasi *Zero Data-Leakageenterprise grade.</a:t>
            </a:r>
          </a:p>
          <a:p>
            <a:pPr>
              <a:defRPr sz="1600">
                <a:solidFill>
                  <a:srgbClr val="265528"/>
                </a:solidFill>
              </a:defRPr>
            </a:pPr>
            <a:r>
              <a:t>Keterbatasan / Future Work:</a:t>
            </a:r>
          </a:p>
          <a:p>
            <a:pPr>
              <a:defRPr sz="1600">
                <a:solidFill>
                  <a:srgbClr val="265528"/>
                </a:solidFill>
              </a:defRPr>
            </a:pPr>
            <a:r>
              <a:t>Keterbatasan sampel validasi RUL akibat run-to-failure cycle yang terbatas.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b="1">
                <a:solidFill>
                  <a:srgbClr val="265528"/>
                </a:solidFill>
                <a:latin typeface="Arial"/>
              </a:rPr>
              <a:t>REFERENSI &amp; QnA</a:t>
            </a:r>
          </a:p>
        </p:txBody>
      </p:sp>
      <p:sp>
        <p:nvSpPr>
          <p:cNvPr id="3" name="Content Placeholder 2"/>
          <p:cNvSpPr>
            <a:spLocks noGrp="1"/>
          </p:cNvSpPr>
          <p:nvPr>
            <p:ph idx="1"/>
          </p:nvPr>
        </p:nvSpPr>
        <p:spPr/>
        <p:txBody>
          <a:bodyPr/>
          <a:lstStyle/>
          <a:p/>
          <a:p>
            <a:pPr>
              <a:defRPr sz="1600">
                <a:solidFill>
                  <a:srgbClr val="265528"/>
                </a:solidFill>
              </a:defRPr>
            </a:pPr>
            <a:r>
              <a:t>Referensi:</a:t>
            </a:r>
          </a:p>
          <a:p>
            <a:pPr>
              <a:defRPr sz="1600">
                <a:solidFill>
                  <a:srgbClr val="265528"/>
                </a:solidFill>
              </a:defRPr>
            </a:pPr>
            <a:r>
              <a:t>Master Blueprint Lapis AI V3.0</a:t>
            </a:r>
          </a:p>
          <a:p>
            <a:pPr>
              <a:defRPr sz="1600">
                <a:solidFill>
                  <a:srgbClr val="265528"/>
                </a:solidFill>
              </a:defRPr>
            </a:pPr>
            <a:r>
              <a:t>C-MAPSS Dataset methodology (Saxena &amp; Goebel, 2008)</a:t>
            </a:r>
          </a:p>
          <a:p>
            <a:pPr>
              <a:defRPr sz="1600">
                <a:solidFill>
                  <a:srgbClr val="265528"/>
                </a:solidFill>
              </a:defRPr>
            </a:pPr>
            <a:r>
              <a:t>SMOTE methodology (Chawla et al., 2002)</a:t>
            </a:r>
          </a:p>
          <a:p>
            <a:pPr>
              <a:defRPr sz="1600">
                <a:solidFill>
                  <a:srgbClr val="265528"/>
                </a:solidFill>
              </a:defRPr>
            </a:pPr>
            <a:r>
              <a:t>Terima Kasih:</a:t>
            </a:r>
          </a:p>
          <a:p>
            <a:pPr>
              <a:defRPr sz="1600">
                <a:solidFill>
                  <a:srgbClr val="265528"/>
                </a:solidFill>
              </a:defRPr>
            </a:pPr>
            <a:r>
              <a:t>Role A (ML Engine), Role B (RAG), Role C (Backend), Role D (Frontend)</a:t>
            </a:r>
          </a:p>
          <a:p>
            <a:pPr>
              <a:defRPr sz="1600">
                <a:solidFill>
                  <a:srgbClr val="265528"/>
                </a:solidFill>
              </a:defRPr>
            </a:pPr>
            <a:r>
              <a:t>Tanya Jawab / Diskusi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