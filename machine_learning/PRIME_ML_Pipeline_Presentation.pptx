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7150" y="2743200"/>
            <a:ext cx="534393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30886" y="3248563"/>
            <a:ext cx="17451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4622" y="3264988"/>
            <a:ext cx="252248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8358" y="3082108"/>
            <a:ext cx="17451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2094" y="3065683"/>
            <a:ext cx="222875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25830" y="2926080"/>
            <a:ext cx="534393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9566" y="2420717"/>
            <a:ext cx="41982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3302" y="2038532"/>
            <a:ext cx="252248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7038" y="2221412"/>
            <a:ext cx="41982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20774" y="2603597"/>
            <a:ext cx="222875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94510" y="2743200"/>
            <a:ext cx="222875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68246" y="2882803"/>
            <a:ext cx="41982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1982" y="3264988"/>
            <a:ext cx="252248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15718" y="3447868"/>
            <a:ext cx="41982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9454" y="3065683"/>
            <a:ext cx="534393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3190" y="2560320"/>
            <a:ext cx="222875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6926" y="2420717"/>
            <a:ext cx="17451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0662" y="2404292"/>
            <a:ext cx="252248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84398" y="2221412"/>
            <a:ext cx="174511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58134" y="2237837"/>
            <a:ext cx="534393" cy="0"/>
          </a:xfrm>
          <a:prstGeom prst="line">
            <a:avLst/>
          </a:prstGeom>
          <a:noFill/>
          <a:ln w="15240">
            <a:solidFill>
              <a:srgbClr val="1A5C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148840"/>
            <a:ext cx="50292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914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11480" y="1737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11480" y="24231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Reliability &amp; Intelligence Maintenance Engine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ML/DL Engineering Walkthrough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5303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Achmad Zikran Maulida  ·  Machine Learning Engineer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57607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A5C3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5760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84248" y="57607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A5C3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5760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57016" y="57607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A5C3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5760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29784" y="57607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A5C3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9784" y="5760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02552" y="57607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A5C3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2552" y="5760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Roadmap — 11 Fase End-to-End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02920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325880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41" name="Shape 39"/>
          <p:cNvSpPr/>
          <p:nvPr/>
        </p:nvSpPr>
        <p:spPr>
          <a:xfrm>
            <a:off x="1538935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38935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61895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44" name="Shape 42"/>
          <p:cNvSpPr/>
          <p:nvPr/>
        </p:nvSpPr>
        <p:spPr>
          <a:xfrm>
            <a:off x="2574950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4950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97910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47" name="Shape 45"/>
          <p:cNvSpPr/>
          <p:nvPr/>
        </p:nvSpPr>
        <p:spPr>
          <a:xfrm>
            <a:off x="3610966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0966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33926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50" name="Shape 48"/>
          <p:cNvSpPr/>
          <p:nvPr/>
        </p:nvSpPr>
        <p:spPr>
          <a:xfrm>
            <a:off x="4646981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6981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69941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53" name="Shape 51"/>
          <p:cNvSpPr/>
          <p:nvPr/>
        </p:nvSpPr>
        <p:spPr>
          <a:xfrm>
            <a:off x="5682996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82996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05956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56" name="Shape 54"/>
          <p:cNvSpPr/>
          <p:nvPr/>
        </p:nvSpPr>
        <p:spPr>
          <a:xfrm>
            <a:off x="6719011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19011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541971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59" name="Shape 57"/>
          <p:cNvSpPr/>
          <p:nvPr/>
        </p:nvSpPr>
        <p:spPr>
          <a:xfrm>
            <a:off x="7755026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55026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577986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62" name="Shape 60"/>
          <p:cNvSpPr/>
          <p:nvPr/>
        </p:nvSpPr>
        <p:spPr>
          <a:xfrm>
            <a:off x="8791042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91042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614002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65" name="Shape 63"/>
          <p:cNvSpPr/>
          <p:nvPr/>
        </p:nvSpPr>
        <p:spPr>
          <a:xfrm>
            <a:off x="9827057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827057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0650017" y="1851660"/>
            <a:ext cx="21305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  <a:tailEnd type="open"/>
          </a:ln>
        </p:spPr>
      </p:sp>
      <p:sp>
        <p:nvSpPr>
          <p:cNvPr id="68" name="Shape 66"/>
          <p:cNvSpPr/>
          <p:nvPr/>
        </p:nvSpPr>
        <p:spPr>
          <a:xfrm>
            <a:off x="10863072" y="1463040"/>
            <a:ext cx="822960" cy="777240"/>
          </a:xfrm>
          <a:prstGeom prst="roundRect">
            <a:avLst>
              <a:gd name="adj" fmla="val 941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863072" y="1463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02920" y="2331720"/>
            <a:ext cx="1858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574950" y="2331720"/>
            <a:ext cx="1858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Layer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646981" y="2331720"/>
            <a:ext cx="393100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Layer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791042" y="2331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827057" y="2331720"/>
            <a:ext cx="1858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/ Deploy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57200" y="27432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Data Layer: Ingestion &amp; EDA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309360" y="27432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Analysis Layer: Temporal Label Engineering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457200" y="31272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Feature Layer: Rolling · Lag · Ratio · SMOTE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309360" y="31272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Model &amp; Deploy: Classification + RUL + FastAPI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— Why Predictive Maintenance?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474720" y="1371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0.056%</a:t>
            </a: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2926080" y="26974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100,000 baris data berlabel failure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(hanya 56 kejadian nyata)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15087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0976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5568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80160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44752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09344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73936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38528" y="1508760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0976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5568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80160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44752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09344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73936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38528" y="1673352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6384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0976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5568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80160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44752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09344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773936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938528" y="1837944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7200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6384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50976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15568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80160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44752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09344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73936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38528" y="2002536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7200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1792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6384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50976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15568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280160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444752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609344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73936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938528" y="2167128"/>
            <a:ext cx="118872" cy="118872"/>
          </a:xfrm>
          <a:prstGeom prst="ellipse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2377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= ~1 failure event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926080" y="3310128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063240" y="3383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Imbalance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063240" y="3703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99.944% data sehat vs. 0.056% failure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naif bisa 99.9% akurat tapi tidak pernah mendeteksi kerusakan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406640" y="3310128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43800" y="33832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Data Leakage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7543800" y="3703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run-to-failure bersifat sekuensial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random biasa membocorkan pola masa depan ke training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65760" y="4663440"/>
            <a:ext cx="11457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4.0: downtime tak terduga = kerugian 20-30% produktivitas pabrik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Reproducibility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65760" y="1463040"/>
            <a:ext cx="7315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1463040"/>
            <a:ext cx="1127455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155448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Direktori Enterprise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1874520"/>
            <a:ext cx="11000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 ·  notebooks/  ·  models/  ·  data/raw  ·  data/interim  ·  data/processed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2697480"/>
            <a:ext cx="73152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2697480"/>
            <a:ext cx="1127455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278892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GLOBAL_SEED = 42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31520" y="3108960"/>
            <a:ext cx="11000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Dikunci di src/config.py — menjamin reproducibility seluruh eksperimen (RF, XGBoost, LSTM, SMOTE)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73152" cy="10058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3931920"/>
            <a:ext cx="11274552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4023360"/>
            <a:ext cx="11000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src/config.py — Single Source of Truth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1520" y="4343400"/>
            <a:ext cx="11000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W_WARNING_HRS=48  ·  W_CRITICAL_HRS=24  ·  LABEL_MAP={HEALTHY:0, WARNING:1, CRITICAL:2}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Profil Dataset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sensor_readings.csv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maintenance_logs.csv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36576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2.80× failure per mesin — semua 20 mesin pernah mengalami failure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35040" y="1325880"/>
            <a:ext cx="56692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35040" y="1371600"/>
            <a:ext cx="5669280" cy="6835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800" dirty="0"/>
          </a:p>
        </p:txBody>
      </p:sp>
      <p:sp>
        <p:nvSpPr>
          <p:cNvPr id="44" name="Text 41"/>
          <p:cNvSpPr/>
          <p:nvPr/>
        </p:nvSpPr>
        <p:spPr>
          <a:xfrm>
            <a:off x="6035040" y="2040941"/>
            <a:ext cx="566928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(M-01 s/d M-20)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035040" y="2532888"/>
            <a:ext cx="56692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35040" y="2578608"/>
            <a:ext cx="5669280" cy="6835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</a:t>
            </a:r>
            <a:endParaRPr lang="en-US" sz="3800" dirty="0"/>
          </a:p>
        </p:txBody>
      </p:sp>
      <p:sp>
        <p:nvSpPr>
          <p:cNvPr id="47" name="Text 44"/>
          <p:cNvSpPr/>
          <p:nvPr/>
        </p:nvSpPr>
        <p:spPr>
          <a:xfrm>
            <a:off x="6035040" y="3247949"/>
            <a:ext cx="566928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rentang waktu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 2025 – Jan 2026)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035040" y="3739896"/>
            <a:ext cx="56692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035040" y="3785616"/>
            <a:ext cx="5669280" cy="6835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/  0</a:t>
            </a:r>
            <a:endParaRPr lang="en-US" sz="3800" dirty="0"/>
          </a:p>
        </p:txBody>
      </p:sp>
      <p:sp>
        <p:nvSpPr>
          <p:cNvPr id="50" name="Text 47"/>
          <p:cNvSpPr/>
          <p:nvPr/>
        </p:nvSpPr>
        <p:spPr>
          <a:xfrm>
            <a:off x="6035040" y="4454957"/>
            <a:ext cx="566928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temporal  /  duplikat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365760" y="3931920"/>
            <a:ext cx="11457432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02920" y="395020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Temporal Integrity: 5,000 baris per mesin (balanced)  ·  0 gap &gt; 1 jam  ·  datetime64[ns] terkonfirmasi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FORENSIK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Failure Autopsy Timeline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40080" y="2377440"/>
            <a:ext cx="10908792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84767" y="2249424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8423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T-72h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81263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263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1263" y="28529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sehat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21053" y="2249424"/>
            <a:ext cx="256032" cy="25603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54709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T-48h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17549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7549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Degradasi Mulai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17549" y="28529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mulai berubah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93691" y="2249424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7347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T-24h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90187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0187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 Dramatis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0187" y="28529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spike konsisten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548153" y="22494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81809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944649" y="2606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44649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944649" y="28529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berhenti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" y="3291840"/>
            <a:ext cx="11457432" cy="658368"/>
          </a:xfrm>
          <a:prstGeom prst="roundRect">
            <a:avLst>
              <a:gd name="adj" fmla="val 11111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333756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Keputusan Berbasis Data:  W_WARNING_HRS = 48  ·  W_CRITICAL_HRS = 24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Direvisi dari hipotesis awal W_WARNING=72 — setelah analisis visual 3 mesin (M-01, M-09, M-05)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2920" y="4069080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Look-back 72 jam pada 3 mesin: M-01 (4× failure), M-09 (2×), M-05 (1×)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" y="4416552"/>
            <a:ext cx="112745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Pola konsisten lintas mesin → bersifat universal, bukan anomali satu mesin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Cohen's D — Sensor Informativeness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pic>
        <p:nvPicPr>
          <p:cNvPr id="40" name="Image 0" descr="figures\cohensd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6858000" cy="42976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365760" y="5623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per sensor — HEALTHY vs FAILURE distribution gap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452360" y="14173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Cohen's d mengukur seberapa beda distribusi sensor saat HEALTHY vs FAILURE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452360" y="22402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6 sensor dengan d &gt; 2.6 (efek sangat besar) → prioritas tinggi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452360" y="30632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vibration (d=3.37) paling diskriminatif — top feature di semua model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452360" y="3886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humidity &amp; operating_hours (d&lt;0.3) — tetap dipertahankan, diputuskan Fase 8 feature importance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452360" y="4681728"/>
            <a:ext cx="438912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98080" y="47183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d &gt; 2.6 → 'Efek Sangat Besar' (Cohen, 1988)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ENGINEERING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Backward-Labeling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65760" y="1371600"/>
            <a:ext cx="6217920" cy="2194560"/>
          </a:xfrm>
          <a:prstGeom prst="roundRect">
            <a:avLst>
              <a:gd name="adj" fmla="val 5000"/>
            </a:avLst>
          </a:prstGeom>
          <a:solidFill>
            <a:srgbClr val="0F2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1508760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label(t)  =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94360" y="1984248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CRITICAL   if   T_failure - 24h  ≤  t  ≤  T_failure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2459736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WARNING    if   T_failure - 48h  ≤  t  &lt;  T_failure - 24h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" y="2935224"/>
            <a:ext cx="5760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HEALTHY    otherwise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949440" y="141732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1417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58200" y="1481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normal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207568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20756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458200" y="21396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T-48h → T-24h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49440" y="2734056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273405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58200" y="27980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T-24h → T_failure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49440" y="3474720"/>
            <a:ext cx="41148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10789920" y="3364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T_failure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3749040"/>
            <a:ext cx="11457432" cy="438912"/>
          </a:xfrm>
          <a:prstGeom prst="rect">
            <a:avLst/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3785616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Mutex constraint: WARNING tidak pernah menimpa CRITICAL — urutan evaluasi: CRITICAL dulu, WARNING kemudian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VALIDATION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Confirmation Layer — P90 Threshold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power_consumption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noise_level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365760" y="3840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2 dari 6 sensor harus melewati P90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48640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858000" y="1536192"/>
            <a:ext cx="41148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58000" y="1536192"/>
            <a:ext cx="4006334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955774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97.364% (97,364)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486400" y="22585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858000" y="2286000"/>
            <a:ext cx="41148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58000" y="2286000"/>
            <a:ext cx="73152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22592" y="2258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1.247% (1,247)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486400" y="30083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858000" y="3035808"/>
            <a:ext cx="41148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858000" y="3035808"/>
            <a:ext cx="73152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22592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1.389% (1,389)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486400" y="3840480"/>
            <a:ext cx="6309360" cy="658368"/>
          </a:xfrm>
          <a:prstGeom prst="roundRect">
            <a:avLst>
              <a:gd name="adj" fmla="val 13889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69280" y="389534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49 baris WARNING palsu di-downgrade → HEALTHY (1.82%)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0 CRITICAL di-downgrade — semua dipertahankan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8 Sensor → 75 Fitur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11480" y="1371600"/>
            <a:ext cx="3727704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1444752"/>
            <a:ext cx="3727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457200" y="190195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2157984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sensor × 2 window (24h, 48h) × 3 stats (mean, std, max)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230624" y="1371600"/>
            <a:ext cx="3727704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30624" y="1444752"/>
            <a:ext cx="3727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276344" y="190195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76344" y="2157984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sensor × lag {6h, 12h, 24h} — konteks temporal historis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49768" y="1371600"/>
            <a:ext cx="3727704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9768" y="1444752"/>
            <a:ext cx="3727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8095488" y="1901952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Ratios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95488" y="2157984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temp/vibration · power/rpm · pressure/temp · noise/vibration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11480" y="2670048"/>
            <a:ext cx="3727704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2743200"/>
            <a:ext cx="3727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457200" y="320040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Proxy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3456432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hours_since_last_maint — jarak waktu dari maintenance log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230624" y="2670048"/>
            <a:ext cx="3727704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30624" y="2743200"/>
            <a:ext cx="3727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4276344" y="320040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Derived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276344" y="3456432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damage_category · severity_score — dari maintenance notes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049768" y="2670048"/>
            <a:ext cx="3727704" cy="1188720"/>
          </a:xfrm>
          <a:prstGeom prst="roundRect">
            <a:avLst>
              <a:gd name="adj" fmla="val 7692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9768" y="2743200"/>
            <a:ext cx="3727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8095488" y="3200400"/>
            <a:ext cx="3636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FITUR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095488" y="3456432"/>
            <a:ext cx="3636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69 fitur final untuk modeling (drop ID/label kolom)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5760" y="598932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x_roll(t, w) = (1/w) Σ x(t-i)  for i=0..w-1,  w ∈ {24h, 48h}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Anti-Leakage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65760" y="137160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SEBELUM — Data Leakage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4360" y="1920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StandardScaler di-fit pada 100,000 baris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94360" y="243230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Termasuk Val machines (M-15–M-17)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4360" y="294436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Termasuk Test machines (M-18–M-20)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94360" y="34564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Model 'melihat' distribusi val/test saat training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92240" y="137160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1463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SESUDAH — Zero Leakage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2940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Scaler di-refit HANYA pada M-01–M-14 (70,000 baris)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629400" y="24323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Val/Test mean ≠ 0, std ≠ 1 → EXPECTED &amp; CORRECT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629400" y="29443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F1 Val tidak berubah: 0.9292 → 0.9292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629400" y="34564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(leakage minimal: homogenitas 20 mesin pabrik sama)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60720" y="2834640"/>
            <a:ext cx="6858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65760" y="4480560"/>
            <a:ext cx="1145743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517136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DFT-02 CLOSED: vibration negatif (min=-0.09) di-clip ke 0  ·  StandardScaler pilihan: outlier pre-failure informatif dipertahankan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HANDLING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SSBS — Stratified Sequential Block Sampling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pic>
        <p:nvPicPr>
          <p:cNvPr id="40" name="Image 0" descr="figures\ssb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6583680" cy="32004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365760" y="45720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blok kronologis per mesin: Block A (prima) + Block B (pre-warning boundary)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178040" y="13716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→ SESUDAH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178040" y="17830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321040" y="17830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97.364%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418320" y="178308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784080" y="17830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87.09%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881360" y="17830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(17,787)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178040" y="24414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321040" y="24414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1.247%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9418320" y="24414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9784080" y="24414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6.11%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0881360" y="244144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(1,247)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178040" y="30998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321040" y="30998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1.389%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9418320" y="309981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9784080" y="30998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6.80%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10881360" y="309981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(1,389)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178040" y="37947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→ 20,423 baris total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65760" y="4663440"/>
            <a:ext cx="11457432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48640" y="4718304"/>
            <a:ext cx="11183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TANPA augmentasi sintetis (Zero Leakage)  ·  SMOTE sengaja ditunda ke Fase 7 — hanya untuk X_train setelah split selesai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mesin shortfall HEALTHY &lt; 1000 baris: konsekuensi integritas temporal (bukan bug)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6.5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ENGINEERING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 Target Engineering — Remaining Useful Life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65760" y="1371600"/>
            <a:ext cx="6217920" cy="1371600"/>
          </a:xfrm>
          <a:prstGeom prst="roundRect">
            <a:avLst>
              <a:gd name="adj" fmla="val 8000"/>
            </a:avLst>
          </a:prstGeom>
          <a:solidFill>
            <a:srgbClr val="0F2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5544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RUL(t)  =  ( T_next_failure  −  t )  /  86,400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2103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satuan hari (days)  ·  target variabel untuk Model 2 (RUL Regressor)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0" y="141732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14721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 hari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58000" y="1938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55480" y="141732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55480" y="14721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146.92 hari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555480" y="1938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58000" y="237744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24323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29.38 hari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858000" y="2898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555480" y="237744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55480" y="24323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18.88 hari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9555480" y="2898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29443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RUL per kelas: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32918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319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65760" y="3566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~18.88 hari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450592" y="32918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50592" y="3319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450592" y="3566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~2 hari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35424" y="329184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35424" y="3319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35424" y="3566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~1 hari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65760" y="4023360"/>
            <a:ext cx="11457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median ≈2 hari, CRITICAL median ≈1 hari — konsisten dengan window 48h/24h dari Fase 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Machine-Based Split &amp; SMOTE (Train Only)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65760" y="13258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Strategy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M-01 – M-14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M-15 – M-17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M-18 – M-20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6400800" y="13258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X_train_clf Only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64208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Sebelum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Sesudah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12,504 (tidak berubah)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  (+3,099 sintetis)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  (+2,986 sintetis)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20,504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44" name="Shape 40"/>
          <p:cNvSpPr/>
          <p:nvPr/>
        </p:nvSpPr>
        <p:spPr>
          <a:xfrm>
            <a:off x="365760" y="4251960"/>
            <a:ext cx="11457432" cy="566928"/>
          </a:xfrm>
          <a:prstGeom prst="roundRect">
            <a:avLst>
              <a:gd name="adj" fmla="val 16129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48640" y="4297680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Data Leakage terkonfirmasi — Val &amp; Test = 100% natural data, tanpa sampel sintetis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Machine-Based Split: setiap split punya full run-to-failure cycle → model belajar generalisasi antar mesin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— Dual-Track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480560" y="1417320"/>
            <a:ext cx="3200400" cy="594360"/>
          </a:xfrm>
          <a:prstGeom prst="roundRect">
            <a:avLst>
              <a:gd name="adj" fmla="val 15385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1417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Feature Input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080760" y="2011680"/>
            <a:ext cx="0" cy="411480"/>
          </a:xfrm>
          <a:prstGeom prst="line">
            <a:avLst/>
          </a:prstGeom>
          <a:noFill/>
          <a:ln w="19050">
            <a:solidFill>
              <a:srgbClr val="1453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2423160"/>
            <a:ext cx="6858000" cy="0"/>
          </a:xfrm>
          <a:prstGeom prst="line">
            <a:avLst/>
          </a:prstGeom>
          <a:noFill/>
          <a:ln w="19050">
            <a:solidFill>
              <a:srgbClr val="1453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51760" y="2423160"/>
            <a:ext cx="0" cy="365760"/>
          </a:xfrm>
          <a:prstGeom prst="line">
            <a:avLst/>
          </a:prstGeom>
          <a:noFill/>
          <a:ln w="19050">
            <a:solidFill>
              <a:srgbClr val="14532D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509760" y="2423160"/>
            <a:ext cx="0" cy="365760"/>
          </a:xfrm>
          <a:prstGeom prst="line">
            <a:avLst/>
          </a:prstGeom>
          <a:noFill/>
          <a:ln w="19050">
            <a:solidFill>
              <a:srgbClr val="14532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65760" y="30175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0906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Health Classifier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0080" y="35204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(baseline)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080" y="38862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V2 + Threshold 0.60  ⭐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080" y="42519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" y="4754880"/>
            <a:ext cx="475488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47548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HEALTHY  /  WARNING  /  CRITICAL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66560" y="30175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30906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RUL Regressor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95160" y="35204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Regressor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995160" y="38862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V2  ⭐ (final)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995160" y="42519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GRU (eksperimental)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903720" y="4754880"/>
            <a:ext cx="475488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47548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RUL (hari)  ·  Scope: WARNING + CRITICAL only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074920" y="33832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HANYA aktif jika Track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 WARNING/CRITICAL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 inference load ~70%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— 3 Model Comparison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57432" cy="914400"/>
        </p:xfrm>
        <a:graphic>
          <a:graphicData uri="http://schemas.openxmlformats.org/drawingml/2006/table">
            <a:tbl>
              <a:tblPr/>
              <a:tblGrid>
                <a:gridCol w="1909572"/>
                <a:gridCol w="1909572"/>
                <a:gridCol w="1909572"/>
                <a:gridCol w="1909572"/>
                <a:gridCol w="1909572"/>
                <a:gridCol w="19095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 (ms)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(MB)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V2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365760" y="3520440"/>
            <a:ext cx="11457432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3611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V1 GAGAL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194560" y="3611880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V1 (early stopping agresif, iter 40)  →  WARNING F1 = 0.2186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206240"/>
            <a:ext cx="11457432" cy="566928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42976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V2 OPTIMAL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2194560" y="4297680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V2 (499 iter, lr=0.01, threshold=0.60)  →  WARNING F1 = 0.9818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65760" y="4937760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V2: n_estimators=499  ·  max_depth=4  ·  lr=0.01  ·  subsample=0.8  ·  reg_α=0.5  ·  reg_λ=2.0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Threshold Tuning: 0.50 → 0.60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65760" y="141732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508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Threshold 0.50 (default)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198424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Precision: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566160" y="19842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" y="25146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Recall: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66160" y="25146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30449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WARNING: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66160" y="30449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" y="357530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Alarms: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566160" y="357530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954  ‼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92240" y="141732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1508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Threshold 0.60 (optimal)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675120" y="198424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Precision: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601200" y="19842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75120" y="25146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Recall: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601200" y="25146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0.990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675120" y="30449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WARNING: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601200" y="30449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0.9818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675120" y="357530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Alarms: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601200" y="357530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✅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806440" y="2880360"/>
            <a:ext cx="59436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65760" y="4526280"/>
            <a:ext cx="11457432" cy="365760"/>
          </a:xfrm>
          <a:prstGeom prst="rect">
            <a:avLst/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572000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bukan cosmetic — menyelamatkan model dari 954 false alarm operasional  (954 → 1)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XGBoost V2 (Test Set)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pic>
        <p:nvPicPr>
          <p:cNvPr id="40" name="Image 0" descr="figures\confusion_matrix_x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772400" cy="41148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57200" y="5486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Val Set (left) &amp; Test Set (right)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412480" y="173736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03920" y="18288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Fatal Error = 0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8503920" y="233172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CRITICAL → HEALTHY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Val maupun Test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412480" y="3291840"/>
            <a:ext cx="352044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03920" y="33467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(Test)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0332720" y="334670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0.9906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412480" y="3822192"/>
            <a:ext cx="352044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03920" y="38770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(Test)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10332720" y="387705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0.9974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412480" y="4352544"/>
            <a:ext cx="3520440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03920" y="44074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F1 Val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0332720" y="440740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 Predictor — 3 Model Comparison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57432" cy="914400"/>
        </p:xfrm>
        <a:graphic>
          <a:graphicData uri="http://schemas.openxmlformats.org/drawingml/2006/table">
            <a:tbl>
              <a:tblPr/>
              <a:tblGrid>
                <a:gridCol w="1909572"/>
                <a:gridCol w="1909572"/>
                <a:gridCol w="1909572"/>
                <a:gridCol w="1909572"/>
                <a:gridCol w="1909572"/>
                <a:gridCol w="19095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Error≤1hari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Reg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1.1020 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V2  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0.7985 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0.9515 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502920" y="347472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Scope: WARNING+CRITICAL only — data HEALTHY memiliki irreducible uncertainty untuk prediksi RUL jangka panjang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02920" y="388620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R² rendah bukan cacat model — disebabkan outlier RUL tinggi di CRITICAL akhir (mesin tanpa next_failure record)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02920" y="429768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GRU overspecialize di CRITICAL (MAE=0.01) tapi gagal di WARNING (MAE=1.91) — kapasitas representasi terbatas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4800600"/>
            <a:ext cx="11457432" cy="4572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4846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LSTM V2 dipilih sebagai Model 2 Final  ·  MAE Test: 0.7985 hari  ·  Error ≤ 1 hari: 98.04%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V2 — Architecture &amp; Learning Curve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65760" y="1371600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137160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24 timesteps × 69 features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017520" y="1810512"/>
            <a:ext cx="0" cy="365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open"/>
          </a:ln>
        </p:spPr>
      </p:sp>
      <p:sp>
        <p:nvSpPr>
          <p:cNvPr id="43" name="Shape 41"/>
          <p:cNvSpPr/>
          <p:nvPr/>
        </p:nvSpPr>
        <p:spPr>
          <a:xfrm>
            <a:off x="365760" y="1847088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84708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(64) + L2(0.001) + Dropout(0.3)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017520" y="2286000"/>
            <a:ext cx="0" cy="365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open"/>
          </a:ln>
        </p:spPr>
      </p:sp>
      <p:sp>
        <p:nvSpPr>
          <p:cNvPr id="46" name="Shape 44"/>
          <p:cNvSpPr/>
          <p:nvPr/>
        </p:nvSpPr>
        <p:spPr>
          <a:xfrm>
            <a:off x="365760" y="2322576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32257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BatchNormalization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017520" y="2761488"/>
            <a:ext cx="0" cy="365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open"/>
          </a:ln>
        </p:spPr>
      </p:sp>
      <p:sp>
        <p:nvSpPr>
          <p:cNvPr id="49" name="Shape 47"/>
          <p:cNvSpPr/>
          <p:nvPr/>
        </p:nvSpPr>
        <p:spPr>
          <a:xfrm>
            <a:off x="365760" y="2798064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79806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(32) + L2(0.001) + Dropout(0.3)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017520" y="3236976"/>
            <a:ext cx="0" cy="365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open"/>
          </a:ln>
        </p:spPr>
      </p:sp>
      <p:sp>
        <p:nvSpPr>
          <p:cNvPr id="52" name="Shape 50"/>
          <p:cNvSpPr/>
          <p:nvPr/>
        </p:nvSpPr>
        <p:spPr>
          <a:xfrm>
            <a:off x="365760" y="3273552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27355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BatchNormalization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017520" y="3712464"/>
            <a:ext cx="0" cy="365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open"/>
          </a:ln>
        </p:spPr>
      </p:sp>
      <p:sp>
        <p:nvSpPr>
          <p:cNvPr id="55" name="Shape 53"/>
          <p:cNvSpPr/>
          <p:nvPr/>
        </p:nvSpPr>
        <p:spPr>
          <a:xfrm>
            <a:off x="365760" y="3749040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74904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(16, relu)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017520" y="4187952"/>
            <a:ext cx="0" cy="3657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open"/>
          </a:ln>
        </p:spPr>
      </p:sp>
      <p:sp>
        <p:nvSpPr>
          <p:cNvPr id="58" name="Shape 56"/>
          <p:cNvSpPr/>
          <p:nvPr/>
        </p:nvSpPr>
        <p:spPr>
          <a:xfrm>
            <a:off x="365760" y="4224528"/>
            <a:ext cx="5303520" cy="438912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22452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(1, linear)  →  RUL (hari)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65760" y="47000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47,649</a:t>
            </a:r>
            <a:endParaRPr lang="en-US" sz="1000" dirty="0"/>
          </a:p>
        </p:txBody>
      </p:sp>
      <p:pic>
        <p:nvPicPr>
          <p:cNvPr id="61" name="Image 0" descr="figures\learning_curve_lst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943600" cy="3840480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5943600" y="5257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epoch=184  ·  Val MAE=0.8160 hari  ·  V1→V2→V3(gagal)→V2 final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943600" y="5349240"/>
            <a:ext cx="59436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989320" y="537667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lr=0.001  ·  batch=32  ·  patience=30  ·  dropout=0.3  ·  L2=0.001  ·  ReduceLR factor=0.5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QUALITY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V2 — Prediction Quality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pic>
        <p:nvPicPr>
          <p:cNvPr id="40" name="Image 0" descr="figures\rul_actual_vs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8046720" cy="39319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365760" y="5303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RUL — LSTM V2 (Test Set, WARNING+CRITICAL only)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686800" y="1554480"/>
            <a:ext cx="32004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686800" y="1600200"/>
            <a:ext cx="3200400" cy="6835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0.7985</a:t>
            </a:r>
            <a:endParaRPr lang="en-US" sz="3800" dirty="0"/>
          </a:p>
        </p:txBody>
      </p:sp>
      <p:sp>
        <p:nvSpPr>
          <p:cNvPr id="44" name="Text 41"/>
          <p:cNvSpPr/>
          <p:nvPr/>
        </p:nvSpPr>
        <p:spPr>
          <a:xfrm>
            <a:off x="8686800" y="2269541"/>
            <a:ext cx="320040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MAE Test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86800" y="2788920"/>
            <a:ext cx="32004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686800" y="2834640"/>
            <a:ext cx="3200400" cy="6835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98.04%</a:t>
            </a:r>
            <a:endParaRPr lang="en-US" sz="3800" dirty="0"/>
          </a:p>
        </p:txBody>
      </p:sp>
      <p:sp>
        <p:nvSpPr>
          <p:cNvPr id="47" name="Text 44"/>
          <p:cNvSpPr/>
          <p:nvPr/>
        </p:nvSpPr>
        <p:spPr>
          <a:xfrm>
            <a:off x="8686800" y="3503981"/>
            <a:ext cx="320040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≤ 1 hari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595360" y="397764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686800" y="40416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Real-World (M-06)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686800" y="4361688"/>
            <a:ext cx="3108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terdeteksi T-47h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terdeteksi T-34h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error saat CRITICAL: 0.05 hari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Selection — Decision Locked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65760" y="1417320"/>
            <a:ext cx="5303520" cy="3657600"/>
          </a:xfrm>
          <a:prstGeom prst="roundRect">
            <a:avLst>
              <a:gd name="adj" fmla="val 35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Health Classifier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18562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V2  +  Threshold 0.60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" y="2404872"/>
            <a:ext cx="49377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Test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10896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0.9906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94360" y="3081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F1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108960" y="30815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94360" y="36484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Error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108960" y="36484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0080" y="44805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480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194560" y="4544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classifier_final.pkl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92240" y="1417320"/>
            <a:ext cx="5303520" cy="3657600"/>
          </a:xfrm>
          <a:prstGeom prst="roundRect">
            <a:avLst>
              <a:gd name="adj" fmla="val 3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RUL Predictor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18562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V2  (WARNING+CRITICAL only)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675120" y="2404872"/>
            <a:ext cx="49377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2354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0.7985 hari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720840" y="30815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≤ 1 hari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235440" y="30815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98.04%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720840" y="36484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Scope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235440" y="36484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/ CRITICAL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766560" y="44805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66560" y="4480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321040" y="4544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rul_predictor_final.keras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65760" y="5230368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dikunci di Fase 9 HTML Report  ·  Diekspor ke models/final/ via Fase 10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628632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57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 — FastAPI Microservice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454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454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58571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544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544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89661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0634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634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520750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1723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51840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813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813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582930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028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902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40196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9924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9924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51092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0820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0820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761988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1716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072884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82612" y="6473952"/>
            <a:ext cx="201168" cy="2011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82612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7383780" y="6574536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3508" y="64739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647395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74320" y="15544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57400" y="1943100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377440" y="15544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preprocessing_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pipeline.pkl (6KB)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60520" y="1943100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480560" y="15544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1943100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0" y="15544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RUL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366760" y="1943100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686800" y="1554480"/>
            <a:ext cx="1783080" cy="777240"/>
          </a:xfrm>
          <a:prstGeom prst="roundRect">
            <a:avLst>
              <a:gd name="adj" fmla="val 11765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86800" y="15544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/api/ml/predict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06240" y="242316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24528" y="244144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Hanya aktif jika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atau CRITICAL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3035808"/>
            <a:ext cx="11457432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3118104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Pickle bug resolved: FeatureEngineeringTransformer dipindah dari __main__ ke src/preprocessing_pipeline.py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" y="3675888"/>
            <a:ext cx="11457432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3758184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TF/Keras breaking change: pin TF==2.15.0, model re-export ke .keras format, LSTM warm-up saat startup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4315968"/>
            <a:ext cx="11457432" cy="530352"/>
          </a:xfrm>
          <a:prstGeom prst="roundRect">
            <a:avLst>
              <a:gd name="adj" fmla="val 1379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4398264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Smoke test: 5/5 skenario PASSED  ·  Avg latency: 49.7ms  ·  Max: 130ms  ·  Workers=1 (LSTM thread-safety)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65760" y="4956048"/>
            <a:ext cx="11457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Docker: Dockerfile.ml  ·  uvicorn src.app:app --host 0.0.0.0 --port 8000 --workers 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D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&amp;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1005840"/>
            <a:ext cx="7616952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5486400" cy="1737360"/>
          </a:xfrm>
          <a:prstGeom prst="roundRect">
            <a:avLst>
              <a:gd name="adj" fmla="val 7368"/>
            </a:avLst>
          </a:prstGeom>
          <a:solidFill>
            <a:srgbClr val="1A5C3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70125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 V2, Val Set)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486400" cy="1737360"/>
          </a:xfrm>
          <a:prstGeom prst="roundRect">
            <a:avLst>
              <a:gd name="adj" fmla="val 7368"/>
            </a:avLst>
          </a:prstGeom>
          <a:solidFill>
            <a:srgbClr val="14532D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80160"/>
            <a:ext cx="5486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309360" y="2370125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Error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(CRITICAL → HEALTHY)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86400" cy="1737360"/>
          </a:xfrm>
          <a:prstGeom prst="roundRect">
            <a:avLst>
              <a:gd name="adj" fmla="val 7368"/>
            </a:avLst>
          </a:prstGeom>
          <a:solidFill>
            <a:srgbClr val="0F211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5486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0.7985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48640" y="4290365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MAE RUL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(LSTM V2, Test Set)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108960"/>
            <a:ext cx="5486400" cy="1737360"/>
          </a:xfrm>
          <a:prstGeom prst="roundRect">
            <a:avLst>
              <a:gd name="adj" fmla="val 7368"/>
            </a:avLst>
          </a:prstGeom>
          <a:solidFill>
            <a:srgbClr val="1A5C32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200400"/>
            <a:ext cx="5486400" cy="1129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98.04%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309360" y="4290365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≤ 1 hari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(LSTM V2, Test Set)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0.056% data failure menjadi sistem prediktif yang siap deploy: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SSBS + Cascaded XGBoost–LSTM architecture membuktikan bahwa penanganan temporal yang tepat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extreme imbalance menjadi keunggulan, bukan hambatan.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 ·  Predictive Reliability &amp; Intelligence Maintenance Engine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2026-06-11T15:20:34Z</dcterms:created>
  <dcterms:modified xsi:type="dcterms:W3CDTF">2026-06-11T15:20:34Z</dcterms:modified>
</cp:coreProperties>
</file>